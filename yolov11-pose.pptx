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9" r:id="rId3"/>
    <p:sldId id="258" r:id="rId4"/>
    <p:sldId id="270" r:id="rId5"/>
    <p:sldId id="268" r:id="rId6"/>
    <p:sldId id="259" r:id="rId7"/>
    <p:sldId id="261" r:id="rId9"/>
    <p:sldId id="276" r:id="rId10"/>
    <p:sldId id="26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48FE"/>
    <a:srgbClr val="F38645"/>
    <a:srgbClr val="595959"/>
    <a:srgbClr val="843C0C"/>
    <a:srgbClr val="98AEEA"/>
    <a:srgbClr val="97AD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35E26-4BEC-4F56-8351-E16C8E93A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16B235-FE37-4C53-95EE-D5BC2F9D5C5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6B235-FE37-4C53-95EE-D5BC2F9D5C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6B235-FE37-4C53-95EE-D5BC2F9D5C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8F49-D4CA-422D-A20D-B0593DABEC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EDB5-BBC0-4782-8E32-F4AA9EC7E4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8F49-D4CA-422D-A20D-B0593DABEC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EDB5-BBC0-4782-8E32-F4AA9EC7E4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8F49-D4CA-422D-A20D-B0593DABEC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EDB5-BBC0-4782-8E32-F4AA9EC7E4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8F49-D4CA-422D-A20D-B0593DABEC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EDB5-BBC0-4782-8E32-F4AA9EC7E4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8F49-D4CA-422D-A20D-B0593DABEC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EDB5-BBC0-4782-8E32-F4AA9EC7E4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8F49-D4CA-422D-A20D-B0593DABEC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EDB5-BBC0-4782-8E32-F4AA9EC7E4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8F49-D4CA-422D-A20D-B0593DABEC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EDB5-BBC0-4782-8E32-F4AA9EC7E4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8F49-D4CA-422D-A20D-B0593DABEC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EDB5-BBC0-4782-8E32-F4AA9EC7E4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8F49-D4CA-422D-A20D-B0593DABEC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EDB5-BBC0-4782-8E32-F4AA9EC7E4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8F49-D4CA-422D-A20D-B0593DABEC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EDB5-BBC0-4782-8E32-F4AA9EC7E4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8F49-D4CA-422D-A20D-B0593DABEC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EEDB5-BBC0-4782-8E32-F4AA9EC7E4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18F49-D4CA-422D-A20D-B0593DABEC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EEDB5-BBC0-4782-8E32-F4AA9EC7E4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693670" y="1337945"/>
            <a:ext cx="7625080" cy="5520690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318115" y="1338580"/>
            <a:ext cx="1743075" cy="5518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: 圆角 5"/>
          <p:cNvSpPr/>
          <p:nvPr/>
        </p:nvSpPr>
        <p:spPr>
          <a:xfrm>
            <a:off x="10434955" y="2900045"/>
            <a:ext cx="1510030" cy="53213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Pose</a:t>
            </a:r>
            <a:endParaRPr lang="en-US" altLang="zh-CN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3878580" y="2972435"/>
            <a:ext cx="2393950" cy="34671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C3k2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3877945" y="3478530"/>
            <a:ext cx="2393950" cy="34671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Concat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3877945" y="3983990"/>
            <a:ext cx="2393950" cy="34671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Upsample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3877945" y="4488180"/>
            <a:ext cx="2393950" cy="34798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C3k2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3878580" y="4993640"/>
            <a:ext cx="2393950" cy="34798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Concat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3878580" y="5500370"/>
            <a:ext cx="2393315" cy="34671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Upsample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13" name="直接箭头连接符 12"/>
          <p:cNvCxnSpPr>
            <a:stCxn id="8" idx="0"/>
            <a:endCxn id="7" idx="2"/>
          </p:cNvCxnSpPr>
          <p:nvPr/>
        </p:nvCxnSpPr>
        <p:spPr>
          <a:xfrm flipV="1">
            <a:off x="5074920" y="3319145"/>
            <a:ext cx="635" cy="1593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9" idx="0"/>
            <a:endCxn id="8" idx="2"/>
          </p:cNvCxnSpPr>
          <p:nvPr/>
        </p:nvCxnSpPr>
        <p:spPr>
          <a:xfrm flipV="1">
            <a:off x="5074920" y="3825240"/>
            <a:ext cx="0" cy="158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0" idx="0"/>
            <a:endCxn id="9" idx="2"/>
          </p:cNvCxnSpPr>
          <p:nvPr/>
        </p:nvCxnSpPr>
        <p:spPr>
          <a:xfrm flipV="1">
            <a:off x="5074920" y="4330700"/>
            <a:ext cx="0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1" idx="0"/>
            <a:endCxn id="10" idx="2"/>
          </p:cNvCxnSpPr>
          <p:nvPr/>
        </p:nvCxnSpPr>
        <p:spPr>
          <a:xfrm flipH="1" flipV="1">
            <a:off x="5074920" y="4836160"/>
            <a:ext cx="635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2" idx="0"/>
            <a:endCxn id="11" idx="2"/>
          </p:cNvCxnSpPr>
          <p:nvPr/>
        </p:nvCxnSpPr>
        <p:spPr>
          <a:xfrm flipV="1">
            <a:off x="5075555" y="5341620"/>
            <a:ext cx="0" cy="158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/>
          <p:cNvSpPr/>
          <p:nvPr/>
        </p:nvSpPr>
        <p:spPr>
          <a:xfrm>
            <a:off x="6956425" y="3983990"/>
            <a:ext cx="2048510" cy="347345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Concat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6956425" y="3479165"/>
            <a:ext cx="2047875" cy="34671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6956425" y="4488815"/>
            <a:ext cx="2048510" cy="34734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C3k2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6956425" y="4993640"/>
            <a:ext cx="2048510" cy="34798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6956425" y="5499100"/>
            <a:ext cx="2048510" cy="34798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Concat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6956425" y="6004560"/>
            <a:ext cx="2047875" cy="34925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C3k2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24" name="直接箭头连接符 23"/>
          <p:cNvCxnSpPr>
            <a:stCxn id="19" idx="2"/>
            <a:endCxn id="18" idx="0"/>
          </p:cNvCxnSpPr>
          <p:nvPr/>
        </p:nvCxnSpPr>
        <p:spPr>
          <a:xfrm>
            <a:off x="7980680" y="3825875"/>
            <a:ext cx="0" cy="1581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8" idx="2"/>
            <a:endCxn id="20" idx="0"/>
          </p:cNvCxnSpPr>
          <p:nvPr/>
        </p:nvCxnSpPr>
        <p:spPr>
          <a:xfrm>
            <a:off x="7980680" y="4331335"/>
            <a:ext cx="0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20" idx="2"/>
            <a:endCxn id="21" idx="0"/>
          </p:cNvCxnSpPr>
          <p:nvPr/>
        </p:nvCxnSpPr>
        <p:spPr>
          <a:xfrm>
            <a:off x="7980680" y="4836160"/>
            <a:ext cx="0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21" idx="2"/>
            <a:endCxn id="22" idx="0"/>
          </p:cNvCxnSpPr>
          <p:nvPr/>
        </p:nvCxnSpPr>
        <p:spPr>
          <a:xfrm>
            <a:off x="7980680" y="5341620"/>
            <a:ext cx="0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22" idx="2"/>
            <a:endCxn id="23" idx="0"/>
          </p:cNvCxnSpPr>
          <p:nvPr/>
        </p:nvCxnSpPr>
        <p:spPr>
          <a:xfrm>
            <a:off x="7980680" y="5847080"/>
            <a:ext cx="0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endCxn id="19" idx="0"/>
          </p:cNvCxnSpPr>
          <p:nvPr/>
        </p:nvCxnSpPr>
        <p:spPr>
          <a:xfrm>
            <a:off x="7976870" y="3161030"/>
            <a:ext cx="3810" cy="3181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/>
          <p:cNvCxnSpPr>
            <a:stCxn id="10" idx="3"/>
            <a:endCxn id="18" idx="1"/>
          </p:cNvCxnSpPr>
          <p:nvPr/>
        </p:nvCxnSpPr>
        <p:spPr>
          <a:xfrm flipV="1">
            <a:off x="6271895" y="4157980"/>
            <a:ext cx="684530" cy="50419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endCxn id="12" idx="2"/>
          </p:cNvCxnSpPr>
          <p:nvPr/>
        </p:nvCxnSpPr>
        <p:spPr>
          <a:xfrm flipH="1" flipV="1">
            <a:off x="5075555" y="5847080"/>
            <a:ext cx="635" cy="3365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7" idx="3"/>
            <a:endCxn id="6" idx="1"/>
          </p:cNvCxnSpPr>
          <p:nvPr/>
        </p:nvCxnSpPr>
        <p:spPr>
          <a:xfrm>
            <a:off x="6272530" y="3145790"/>
            <a:ext cx="4162425" cy="203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20" idx="3"/>
            <a:endCxn id="62" idx="1"/>
          </p:cNvCxnSpPr>
          <p:nvPr/>
        </p:nvCxnSpPr>
        <p:spPr>
          <a:xfrm>
            <a:off x="9004709" y="4662603"/>
            <a:ext cx="14300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3" idx="3"/>
            <a:endCxn id="63" idx="1"/>
          </p:cNvCxnSpPr>
          <p:nvPr/>
        </p:nvCxnSpPr>
        <p:spPr>
          <a:xfrm>
            <a:off x="9004073" y="6179391"/>
            <a:ext cx="143065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7620" y="1338516"/>
            <a:ext cx="2686685" cy="55194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4"/>
          <p:cNvSpPr/>
          <p:nvPr/>
        </p:nvSpPr>
        <p:spPr>
          <a:xfrm>
            <a:off x="138430" y="954348"/>
            <a:ext cx="2393315" cy="347349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39" name="矩形: 圆角 5"/>
          <p:cNvSpPr/>
          <p:nvPr/>
        </p:nvSpPr>
        <p:spPr>
          <a:xfrm>
            <a:off x="138430" y="1456004"/>
            <a:ext cx="2393315" cy="346714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40" name="矩形: 圆角 6"/>
          <p:cNvSpPr/>
          <p:nvPr/>
        </p:nvSpPr>
        <p:spPr>
          <a:xfrm>
            <a:off x="138430" y="1960200"/>
            <a:ext cx="2393315" cy="347349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C3k2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41" name="矩形: 圆角 7"/>
          <p:cNvSpPr/>
          <p:nvPr/>
        </p:nvSpPr>
        <p:spPr>
          <a:xfrm>
            <a:off x="138430" y="2465666"/>
            <a:ext cx="2393315" cy="347984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42" name="矩形: 圆角 8"/>
          <p:cNvSpPr/>
          <p:nvPr/>
        </p:nvSpPr>
        <p:spPr>
          <a:xfrm>
            <a:off x="138430" y="2972402"/>
            <a:ext cx="2393950" cy="346714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C3k2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43" name="矩形: 圆角 9"/>
          <p:cNvSpPr/>
          <p:nvPr/>
        </p:nvSpPr>
        <p:spPr>
          <a:xfrm>
            <a:off x="138430" y="3477233"/>
            <a:ext cx="2393315" cy="347349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44" name="矩形: 圆角 10"/>
          <p:cNvSpPr/>
          <p:nvPr/>
        </p:nvSpPr>
        <p:spPr>
          <a:xfrm>
            <a:off x="138430" y="3982698"/>
            <a:ext cx="2393315" cy="347349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C3k2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45" name="直接箭头连接符 44"/>
          <p:cNvCxnSpPr>
            <a:stCxn id="39" idx="2"/>
            <a:endCxn id="40" idx="0"/>
          </p:cNvCxnSpPr>
          <p:nvPr/>
        </p:nvCxnSpPr>
        <p:spPr>
          <a:xfrm>
            <a:off x="1335405" y="1802718"/>
            <a:ext cx="0" cy="1574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矩形: 圆角 44"/>
          <p:cNvSpPr/>
          <p:nvPr/>
        </p:nvSpPr>
        <p:spPr>
          <a:xfrm>
            <a:off x="502285" y="157414"/>
            <a:ext cx="1663700" cy="50864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Input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640*640*3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38430" y="6427465"/>
            <a:ext cx="2428875" cy="417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Backbone</a:t>
            </a:r>
            <a:endParaRPr lang="en-US" altLang="zh-CN" sz="2000" b="1" dirty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48" name="直接箭头连接符 47"/>
          <p:cNvCxnSpPr>
            <a:stCxn id="40" idx="2"/>
            <a:endCxn id="41" idx="0"/>
          </p:cNvCxnSpPr>
          <p:nvPr/>
        </p:nvCxnSpPr>
        <p:spPr>
          <a:xfrm>
            <a:off x="1335405" y="2307549"/>
            <a:ext cx="0" cy="1581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stCxn id="38" idx="2"/>
            <a:endCxn id="39" idx="0"/>
          </p:cNvCxnSpPr>
          <p:nvPr/>
        </p:nvCxnSpPr>
        <p:spPr>
          <a:xfrm>
            <a:off x="1335405" y="1301697"/>
            <a:ext cx="0" cy="1543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41" idx="2"/>
            <a:endCxn id="42" idx="0"/>
          </p:cNvCxnSpPr>
          <p:nvPr/>
        </p:nvCxnSpPr>
        <p:spPr>
          <a:xfrm>
            <a:off x="1335405" y="2813650"/>
            <a:ext cx="0" cy="1587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42" idx="2"/>
            <a:endCxn id="43" idx="0"/>
          </p:cNvCxnSpPr>
          <p:nvPr/>
        </p:nvCxnSpPr>
        <p:spPr>
          <a:xfrm>
            <a:off x="1335405" y="3319116"/>
            <a:ext cx="0" cy="1581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43" idx="2"/>
            <a:endCxn id="44" idx="0"/>
          </p:cNvCxnSpPr>
          <p:nvPr/>
        </p:nvCxnSpPr>
        <p:spPr>
          <a:xfrm>
            <a:off x="1335405" y="3824582"/>
            <a:ext cx="0" cy="1581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44" idx="2"/>
            <a:endCxn id="56" idx="0"/>
          </p:cNvCxnSpPr>
          <p:nvPr/>
        </p:nvCxnSpPr>
        <p:spPr>
          <a:xfrm>
            <a:off x="1335405" y="4330047"/>
            <a:ext cx="0" cy="1581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56" idx="2"/>
            <a:endCxn id="57" idx="0"/>
          </p:cNvCxnSpPr>
          <p:nvPr/>
        </p:nvCxnSpPr>
        <p:spPr>
          <a:xfrm>
            <a:off x="1335405" y="4835513"/>
            <a:ext cx="0" cy="1581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H="1">
            <a:off x="1336675" y="693995"/>
            <a:ext cx="1270" cy="2559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矩形: 圆角 9"/>
          <p:cNvSpPr/>
          <p:nvPr/>
        </p:nvSpPr>
        <p:spPr>
          <a:xfrm>
            <a:off x="138430" y="4488164"/>
            <a:ext cx="2393315" cy="347349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57" name="矩形: 圆角 10"/>
          <p:cNvSpPr/>
          <p:nvPr/>
        </p:nvSpPr>
        <p:spPr>
          <a:xfrm>
            <a:off x="137795" y="4993630"/>
            <a:ext cx="2394585" cy="347349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C3k2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58" name="直接箭头连接符 57"/>
          <p:cNvCxnSpPr>
            <a:stCxn id="57" idx="2"/>
            <a:endCxn id="59" idx="0"/>
          </p:cNvCxnSpPr>
          <p:nvPr/>
        </p:nvCxnSpPr>
        <p:spPr>
          <a:xfrm>
            <a:off x="1335405" y="5340979"/>
            <a:ext cx="0" cy="1581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矩形: 圆角 11"/>
          <p:cNvSpPr/>
          <p:nvPr/>
        </p:nvSpPr>
        <p:spPr>
          <a:xfrm>
            <a:off x="138430" y="5499096"/>
            <a:ext cx="2393315" cy="347984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SPPF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60" name="连接符: 肘形 59"/>
          <p:cNvCxnSpPr>
            <a:stCxn id="42" idx="3"/>
            <a:endCxn id="8" idx="1"/>
          </p:cNvCxnSpPr>
          <p:nvPr/>
        </p:nvCxnSpPr>
        <p:spPr>
          <a:xfrm>
            <a:off x="2532380" y="3145759"/>
            <a:ext cx="1345565" cy="50612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/>
          <p:cNvCxnSpPr>
            <a:stCxn id="44" idx="3"/>
            <a:endCxn id="11" idx="1"/>
          </p:cNvCxnSpPr>
          <p:nvPr/>
        </p:nvCxnSpPr>
        <p:spPr>
          <a:xfrm>
            <a:off x="2531745" y="4156373"/>
            <a:ext cx="1346835" cy="10112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: 圆角 174"/>
          <p:cNvSpPr/>
          <p:nvPr/>
        </p:nvSpPr>
        <p:spPr>
          <a:xfrm>
            <a:off x="10434955" y="4396740"/>
            <a:ext cx="1510030" cy="53213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Pose</a:t>
            </a:r>
            <a:endParaRPr lang="en-US" altLang="zh-CN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3" name="矩形: 圆角 174"/>
          <p:cNvSpPr/>
          <p:nvPr/>
        </p:nvSpPr>
        <p:spPr>
          <a:xfrm>
            <a:off x="10434955" y="5930900"/>
            <a:ext cx="1510030" cy="49657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Pose</a:t>
            </a:r>
            <a:endParaRPr lang="en-US" altLang="zh-CN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5227320" y="6427470"/>
            <a:ext cx="2428874" cy="4178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Neck</a:t>
            </a:r>
            <a:endParaRPr lang="en-US" altLang="zh-CN" sz="2000" b="1" dirty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0446385" y="6427470"/>
            <a:ext cx="1487170" cy="4178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Head</a:t>
            </a:r>
            <a:endParaRPr lang="en-US" altLang="zh-CN" sz="2000" b="1" dirty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35" name="连接符: 肘形 34"/>
          <p:cNvCxnSpPr>
            <a:stCxn id="71" idx="3"/>
            <a:endCxn id="22" idx="1"/>
          </p:cNvCxnSpPr>
          <p:nvPr/>
        </p:nvCxnSpPr>
        <p:spPr>
          <a:xfrm flipV="1">
            <a:off x="2530792" y="5673090"/>
            <a:ext cx="4425633" cy="504815"/>
          </a:xfrm>
          <a:prstGeom prst="bentConnector3">
            <a:avLst>
              <a:gd name="adj1" fmla="val 9349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: 圆角 70"/>
          <p:cNvSpPr/>
          <p:nvPr/>
        </p:nvSpPr>
        <p:spPr>
          <a:xfrm>
            <a:off x="137477" y="6003913"/>
            <a:ext cx="2393315" cy="34798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C2PSA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72" name="直接箭头连接符 71"/>
          <p:cNvCxnSpPr>
            <a:stCxn id="59" idx="2"/>
            <a:endCxn id="71" idx="0"/>
          </p:cNvCxnSpPr>
          <p:nvPr/>
        </p:nvCxnSpPr>
        <p:spPr>
          <a:xfrm flipH="1">
            <a:off x="1334135" y="5847080"/>
            <a:ext cx="953" cy="1568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7" name="图片 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3780" y="1933918"/>
            <a:ext cx="4969408" cy="798799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780" y="1010920"/>
            <a:ext cx="4946226" cy="835077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587" y="1051228"/>
            <a:ext cx="4127712" cy="742988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0671" y="1846117"/>
            <a:ext cx="4116912" cy="897278"/>
          </a:xfrm>
          <a:prstGeom prst="rect">
            <a:avLst/>
          </a:prstGeom>
        </p:spPr>
      </p:pic>
      <p:sp>
        <p:nvSpPr>
          <p:cNvPr id="84" name="文本框 83"/>
          <p:cNvSpPr txBox="1"/>
          <p:nvPr/>
        </p:nvSpPr>
        <p:spPr>
          <a:xfrm>
            <a:off x="5133128" y="279416"/>
            <a:ext cx="2277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YOLO11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30175" y="1435100"/>
            <a:ext cx="12301855" cy="4414520"/>
            <a:chOff x="130175" y="1435100"/>
            <a:chExt cx="12301855" cy="4414520"/>
          </a:xfrm>
        </p:grpSpPr>
        <p:sp>
          <p:nvSpPr>
            <p:cNvPr id="4" name="矩形 3"/>
            <p:cNvSpPr/>
            <p:nvPr/>
          </p:nvSpPr>
          <p:spPr>
            <a:xfrm>
              <a:off x="130175" y="1497965"/>
              <a:ext cx="3555365" cy="409384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196080" y="1497965"/>
              <a:ext cx="3555365" cy="409384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175625" y="1497965"/>
              <a:ext cx="4017010" cy="409384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273050" y="1796415"/>
              <a:ext cx="1286510" cy="51498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Conv</a:t>
              </a:r>
              <a:endParaRPr lang="en-US" altLang="zh-CN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1975485" y="1796415"/>
              <a:ext cx="1286510" cy="51498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Conv</a:t>
              </a:r>
              <a:endParaRPr lang="en-US" altLang="zh-CN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976120" y="2672715"/>
              <a:ext cx="1286510" cy="51498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Bottleneck</a:t>
              </a:r>
              <a:endParaRPr lang="en-US" altLang="zh-CN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975485" y="3549015"/>
              <a:ext cx="1286510" cy="51498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Bottleneck</a:t>
              </a:r>
              <a:endParaRPr lang="en-US" altLang="zh-CN"/>
            </a:p>
          </p:txBody>
        </p:sp>
        <p:sp>
          <p:nvSpPr>
            <p:cNvPr id="140" name="矩形: 圆角 139"/>
            <p:cNvSpPr/>
            <p:nvPr/>
          </p:nvSpPr>
          <p:spPr>
            <a:xfrm>
              <a:off x="1975485" y="4318000"/>
              <a:ext cx="1287145" cy="40132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err="1">
                  <a:solidFill>
                    <a:schemeClr val="bg1"/>
                  </a:solidFill>
                </a:rPr>
                <a:t>Concat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976120" y="4973320"/>
              <a:ext cx="1286510" cy="51498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Conv</a:t>
              </a:r>
              <a:endParaRPr lang="en-US" altLang="zh-CN"/>
            </a:p>
          </p:txBody>
        </p:sp>
        <p:sp>
          <p:nvSpPr>
            <p:cNvPr id="14" name="矩形: 圆角 6"/>
            <p:cNvSpPr/>
            <p:nvPr/>
          </p:nvSpPr>
          <p:spPr>
            <a:xfrm>
              <a:off x="156210" y="4642485"/>
              <a:ext cx="1337945" cy="84582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C3k2</a:t>
              </a:r>
              <a:endParaRPr lang="en-US" altLang="zh-CN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True*</a:t>
              </a:r>
              <a:endParaRPr lang="en-US" altLang="zh-CN" sz="16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6" name="直接箭头连接符 15"/>
            <p:cNvCxnSpPr>
              <a:stCxn id="10" idx="2"/>
              <a:endCxn id="11" idx="0"/>
            </p:cNvCxnSpPr>
            <p:nvPr/>
          </p:nvCxnSpPr>
          <p:spPr>
            <a:xfrm>
              <a:off x="2618740" y="2311400"/>
              <a:ext cx="635" cy="36131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>
              <a:off x="2618105" y="3187700"/>
              <a:ext cx="635" cy="36131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>
              <a:off x="2617470" y="4064000"/>
              <a:ext cx="635" cy="36131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>
              <a:off x="2619375" y="4719320"/>
              <a:ext cx="635" cy="36131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>
              <a:off x="2620010" y="5488305"/>
              <a:ext cx="635" cy="36131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2616835" y="1435100"/>
              <a:ext cx="635" cy="36131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肘形连接符 22"/>
            <p:cNvCxnSpPr>
              <a:endCxn id="140" idx="1"/>
            </p:cNvCxnSpPr>
            <p:nvPr/>
          </p:nvCxnSpPr>
          <p:spPr>
            <a:xfrm rot="5400000" flipV="1">
              <a:off x="342265" y="2885440"/>
              <a:ext cx="2207260" cy="1059180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肘形连接符 23"/>
            <p:cNvCxnSpPr>
              <a:endCxn id="9" idx="0"/>
            </p:cNvCxnSpPr>
            <p:nvPr/>
          </p:nvCxnSpPr>
          <p:spPr>
            <a:xfrm rot="10800000" flipV="1">
              <a:off x="916305" y="1533525"/>
              <a:ext cx="1664970" cy="262890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" name="右大括号 25"/>
            <p:cNvSpPr/>
            <p:nvPr/>
          </p:nvSpPr>
          <p:spPr>
            <a:xfrm>
              <a:off x="3352800" y="2876550"/>
              <a:ext cx="371475" cy="933450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4196080" y="3295015"/>
              <a:ext cx="1286510" cy="62865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Bottleneck</a:t>
              </a:r>
              <a:endParaRPr lang="en-US" altLang="zh-CN"/>
            </a:p>
            <a:p>
              <a:pPr algn="ctr"/>
              <a:r>
                <a:rPr lang="en-US" altLang="zh-CN"/>
                <a:t>False*</a:t>
              </a:r>
              <a:endParaRPr lang="en-US" altLang="zh-CN"/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5912485" y="2157730"/>
              <a:ext cx="1286510" cy="51498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Conv</a:t>
              </a:r>
              <a:endParaRPr lang="en-US" altLang="zh-CN"/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5912485" y="3187700"/>
              <a:ext cx="1286510" cy="51498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Conv</a:t>
              </a:r>
              <a:endParaRPr lang="en-US" altLang="zh-CN"/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5912485" y="4318000"/>
              <a:ext cx="1286510" cy="514985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add</a:t>
              </a:r>
              <a:endParaRPr lang="en-US" altLang="zh-CN"/>
            </a:p>
          </p:txBody>
        </p:sp>
        <p:cxnSp>
          <p:nvCxnSpPr>
            <p:cNvPr id="31" name="直接箭头连接符 30"/>
            <p:cNvCxnSpPr>
              <a:endCxn id="29" idx="0"/>
            </p:cNvCxnSpPr>
            <p:nvPr/>
          </p:nvCxnSpPr>
          <p:spPr>
            <a:xfrm>
              <a:off x="6555740" y="2672715"/>
              <a:ext cx="0" cy="514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29" idx="2"/>
            </p:cNvCxnSpPr>
            <p:nvPr/>
          </p:nvCxnSpPr>
          <p:spPr>
            <a:xfrm>
              <a:off x="6555740" y="3702685"/>
              <a:ext cx="0" cy="56515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>
              <a:off x="6555740" y="1642745"/>
              <a:ext cx="0" cy="514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5" name="肘形连接符 34"/>
            <p:cNvCxnSpPr/>
            <p:nvPr/>
          </p:nvCxnSpPr>
          <p:spPr>
            <a:xfrm rot="5400000" flipV="1">
              <a:off x="5524500" y="2901315"/>
              <a:ext cx="2717165" cy="631825"/>
            </a:xfrm>
            <a:prstGeom prst="bentConnector4">
              <a:avLst>
                <a:gd name="adj1" fmla="val 1448"/>
                <a:gd name="adj2" fmla="val 137688"/>
              </a:avLst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6" name="矩形: 圆角 6"/>
            <p:cNvSpPr/>
            <p:nvPr/>
          </p:nvSpPr>
          <p:spPr>
            <a:xfrm>
              <a:off x="8175625" y="3056890"/>
              <a:ext cx="1105535" cy="492125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C3k2</a:t>
              </a:r>
              <a:endParaRPr lang="en-US" altLang="zh-C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10259695" y="1642745"/>
              <a:ext cx="1283970" cy="38163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Conv</a:t>
              </a:r>
              <a:endParaRPr lang="en-US" altLang="zh-CN"/>
            </a:p>
          </p:txBody>
        </p:sp>
        <p:sp>
          <p:nvSpPr>
            <p:cNvPr id="38" name="圆角矩形 37"/>
            <p:cNvSpPr/>
            <p:nvPr/>
          </p:nvSpPr>
          <p:spPr>
            <a:xfrm>
              <a:off x="10257790" y="2311400"/>
              <a:ext cx="1285875" cy="36195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Split</a:t>
              </a:r>
              <a:endParaRPr lang="en-US" altLang="zh-CN"/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10257790" y="3006725"/>
              <a:ext cx="1267460" cy="40195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True/False</a:t>
              </a:r>
              <a:endParaRPr lang="en-US" altLang="zh-CN"/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10260965" y="3804920"/>
              <a:ext cx="1285240" cy="37465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True/False</a:t>
              </a:r>
              <a:endParaRPr lang="en-US" altLang="zh-CN"/>
            </a:p>
          </p:txBody>
        </p:sp>
        <p:sp>
          <p:nvSpPr>
            <p:cNvPr id="41" name="矩形: 圆角 139"/>
            <p:cNvSpPr/>
            <p:nvPr/>
          </p:nvSpPr>
          <p:spPr>
            <a:xfrm>
              <a:off x="10260965" y="4442460"/>
              <a:ext cx="1287145" cy="40132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err="1">
                  <a:solidFill>
                    <a:schemeClr val="bg1"/>
                  </a:solidFill>
                </a:rPr>
                <a:t>Concat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10241280" y="5106670"/>
              <a:ext cx="1283970" cy="38163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Conv</a:t>
              </a:r>
              <a:endParaRPr lang="en-US" altLang="zh-CN"/>
            </a:p>
          </p:txBody>
        </p:sp>
        <p:cxnSp>
          <p:nvCxnSpPr>
            <p:cNvPr id="44" name="直接箭头连接符 43"/>
            <p:cNvCxnSpPr>
              <a:stCxn id="37" idx="2"/>
              <a:endCxn id="38" idx="0"/>
            </p:cNvCxnSpPr>
            <p:nvPr/>
          </p:nvCxnSpPr>
          <p:spPr>
            <a:xfrm flipH="1">
              <a:off x="10901045" y="2024380"/>
              <a:ext cx="635" cy="2870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/>
            <p:nvPr/>
          </p:nvCxnSpPr>
          <p:spPr>
            <a:xfrm flipH="1">
              <a:off x="10901680" y="2696845"/>
              <a:ext cx="635" cy="2870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>
              <a:stCxn id="39" idx="2"/>
              <a:endCxn id="40" idx="0"/>
            </p:cNvCxnSpPr>
            <p:nvPr/>
          </p:nvCxnSpPr>
          <p:spPr>
            <a:xfrm>
              <a:off x="10891520" y="3408680"/>
              <a:ext cx="12065" cy="396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40" idx="2"/>
            </p:cNvCxnSpPr>
            <p:nvPr/>
          </p:nvCxnSpPr>
          <p:spPr>
            <a:xfrm flipH="1">
              <a:off x="10900410" y="4179570"/>
              <a:ext cx="3175" cy="2870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 flipH="1">
              <a:off x="10903585" y="4843780"/>
              <a:ext cx="635" cy="2870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" name="肘形连接符 48"/>
            <p:cNvCxnSpPr>
              <a:stCxn id="38" idx="1"/>
              <a:endCxn id="41" idx="1"/>
            </p:cNvCxnSpPr>
            <p:nvPr/>
          </p:nvCxnSpPr>
          <p:spPr>
            <a:xfrm rot="10800000" flipH="1" flipV="1">
              <a:off x="10257155" y="2491740"/>
              <a:ext cx="3175" cy="2150745"/>
            </a:xfrm>
            <a:prstGeom prst="bentConnector3">
              <a:avLst>
                <a:gd name="adj1" fmla="val -25380000"/>
              </a:avLst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/>
            <p:nvPr/>
          </p:nvCxnSpPr>
          <p:spPr>
            <a:xfrm flipH="1">
              <a:off x="10903585" y="5385435"/>
              <a:ext cx="635" cy="2870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/>
            <p:nvPr/>
          </p:nvCxnSpPr>
          <p:spPr>
            <a:xfrm flipH="1">
              <a:off x="10904220" y="1435100"/>
              <a:ext cx="635" cy="28702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2" name="肘形连接符 51"/>
            <p:cNvCxnSpPr/>
            <p:nvPr/>
          </p:nvCxnSpPr>
          <p:spPr>
            <a:xfrm rot="5400000">
              <a:off x="9371965" y="3092450"/>
              <a:ext cx="1845945" cy="1219835"/>
            </a:xfrm>
            <a:prstGeom prst="bentConnector3">
              <a:avLst>
                <a:gd name="adj1" fmla="val 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肘形连接符 52"/>
            <p:cNvCxnSpPr/>
            <p:nvPr/>
          </p:nvCxnSpPr>
          <p:spPr>
            <a:xfrm rot="5400000">
              <a:off x="9883775" y="3596640"/>
              <a:ext cx="1058545" cy="982345"/>
            </a:xfrm>
            <a:prstGeom prst="bentConnector3">
              <a:avLst>
                <a:gd name="adj1" fmla="val 3599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4" name="右大括号 53"/>
            <p:cNvSpPr/>
            <p:nvPr/>
          </p:nvSpPr>
          <p:spPr>
            <a:xfrm>
              <a:off x="11556365" y="3186430"/>
              <a:ext cx="287655" cy="872490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11695430" y="3398520"/>
              <a:ext cx="736600" cy="525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4">
                      <a:lumMod val="7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N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>
            <a:off x="-1713297" y="-548640"/>
            <a:ext cx="16228194" cy="777721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249"/>
            <a:ext cx="12192000" cy="5906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 98"/>
          <p:cNvSpPr/>
          <p:nvPr/>
        </p:nvSpPr>
        <p:spPr>
          <a:xfrm>
            <a:off x="2693670" y="1337945"/>
            <a:ext cx="7625080" cy="5520690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矩形 173"/>
          <p:cNvSpPr/>
          <p:nvPr/>
        </p:nvSpPr>
        <p:spPr>
          <a:xfrm>
            <a:off x="10318115" y="1338580"/>
            <a:ext cx="1743075" cy="5518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5" name="矩形: 圆角 174"/>
          <p:cNvSpPr/>
          <p:nvPr/>
        </p:nvSpPr>
        <p:spPr>
          <a:xfrm>
            <a:off x="10434955" y="2900045"/>
            <a:ext cx="1510030" cy="53213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Pose</a:t>
            </a:r>
            <a:endParaRPr lang="en-US" altLang="zh-CN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0" name="矩形: 圆角 99"/>
          <p:cNvSpPr/>
          <p:nvPr/>
        </p:nvSpPr>
        <p:spPr>
          <a:xfrm>
            <a:off x="3878580" y="2972435"/>
            <a:ext cx="2393950" cy="34671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  <a:sym typeface="+mn-ea"/>
              </a:rPr>
              <a:t>C2f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3877945" y="3478530"/>
            <a:ext cx="2393950" cy="34671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Concat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3877945" y="3983990"/>
            <a:ext cx="2393950" cy="34671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Upsample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3877945" y="4488180"/>
            <a:ext cx="2393950" cy="34798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  <a:sym typeface="+mn-ea"/>
              </a:rPr>
              <a:t>C2f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3878580" y="4993640"/>
            <a:ext cx="2393950" cy="34798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Concat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3878580" y="5500370"/>
            <a:ext cx="2393315" cy="34671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Upsample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108" name="直接箭头连接符 107"/>
          <p:cNvCxnSpPr>
            <a:stCxn id="102" idx="0"/>
            <a:endCxn id="100" idx="2"/>
          </p:cNvCxnSpPr>
          <p:nvPr/>
        </p:nvCxnSpPr>
        <p:spPr>
          <a:xfrm flipV="1">
            <a:off x="5074920" y="3319145"/>
            <a:ext cx="635" cy="1593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>
            <a:stCxn id="103" idx="0"/>
            <a:endCxn id="102" idx="2"/>
          </p:cNvCxnSpPr>
          <p:nvPr/>
        </p:nvCxnSpPr>
        <p:spPr>
          <a:xfrm flipV="1">
            <a:off x="5074920" y="3825240"/>
            <a:ext cx="0" cy="158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>
            <a:stCxn id="104" idx="0"/>
            <a:endCxn id="103" idx="2"/>
          </p:cNvCxnSpPr>
          <p:nvPr/>
        </p:nvCxnSpPr>
        <p:spPr>
          <a:xfrm flipV="1">
            <a:off x="5074920" y="4330700"/>
            <a:ext cx="0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>
            <a:stCxn id="105" idx="0"/>
            <a:endCxn id="104" idx="2"/>
          </p:cNvCxnSpPr>
          <p:nvPr/>
        </p:nvCxnSpPr>
        <p:spPr>
          <a:xfrm flipH="1" flipV="1">
            <a:off x="5074920" y="4836160"/>
            <a:ext cx="635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>
            <a:stCxn id="106" idx="0"/>
            <a:endCxn id="105" idx="2"/>
          </p:cNvCxnSpPr>
          <p:nvPr/>
        </p:nvCxnSpPr>
        <p:spPr>
          <a:xfrm flipV="1">
            <a:off x="5075555" y="5341620"/>
            <a:ext cx="0" cy="158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矩形: 圆角 139"/>
          <p:cNvSpPr/>
          <p:nvPr/>
        </p:nvSpPr>
        <p:spPr>
          <a:xfrm>
            <a:off x="6956425" y="3983990"/>
            <a:ext cx="2048510" cy="347345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Concat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41" name="矩形: 圆角 140"/>
          <p:cNvSpPr/>
          <p:nvPr/>
        </p:nvSpPr>
        <p:spPr>
          <a:xfrm>
            <a:off x="6956425" y="3479165"/>
            <a:ext cx="2047875" cy="34671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42" name="矩形: 圆角 141"/>
          <p:cNvSpPr/>
          <p:nvPr/>
        </p:nvSpPr>
        <p:spPr>
          <a:xfrm>
            <a:off x="6956425" y="4488815"/>
            <a:ext cx="2048510" cy="34734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  <a:sym typeface="+mn-ea"/>
              </a:rPr>
              <a:t>C2f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43" name="矩形: 圆角 142"/>
          <p:cNvSpPr/>
          <p:nvPr/>
        </p:nvSpPr>
        <p:spPr>
          <a:xfrm>
            <a:off x="6956425" y="4993640"/>
            <a:ext cx="2048510" cy="34798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44" name="矩形: 圆角 143"/>
          <p:cNvSpPr/>
          <p:nvPr/>
        </p:nvSpPr>
        <p:spPr>
          <a:xfrm>
            <a:off x="6956425" y="5499100"/>
            <a:ext cx="2048510" cy="34798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Concat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45" name="矩形: 圆角 144"/>
          <p:cNvSpPr/>
          <p:nvPr/>
        </p:nvSpPr>
        <p:spPr>
          <a:xfrm>
            <a:off x="6956425" y="6004560"/>
            <a:ext cx="2047875" cy="34925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  <a:sym typeface="+mn-ea"/>
              </a:rPr>
              <a:t>C2f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149" name="直接箭头连接符 148"/>
          <p:cNvCxnSpPr>
            <a:stCxn id="141" idx="2"/>
            <a:endCxn id="140" idx="0"/>
          </p:cNvCxnSpPr>
          <p:nvPr/>
        </p:nvCxnSpPr>
        <p:spPr>
          <a:xfrm>
            <a:off x="7980680" y="3825875"/>
            <a:ext cx="0" cy="1581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/>
          <p:cNvCxnSpPr>
            <a:stCxn id="140" idx="2"/>
            <a:endCxn id="142" idx="0"/>
          </p:cNvCxnSpPr>
          <p:nvPr/>
        </p:nvCxnSpPr>
        <p:spPr>
          <a:xfrm>
            <a:off x="7980680" y="4331335"/>
            <a:ext cx="0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箭头连接符 162"/>
          <p:cNvCxnSpPr>
            <a:stCxn id="142" idx="2"/>
            <a:endCxn id="143" idx="0"/>
          </p:cNvCxnSpPr>
          <p:nvPr/>
        </p:nvCxnSpPr>
        <p:spPr>
          <a:xfrm>
            <a:off x="7980680" y="4836160"/>
            <a:ext cx="0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/>
          <p:cNvCxnSpPr>
            <a:stCxn id="143" idx="2"/>
            <a:endCxn id="144" idx="0"/>
          </p:cNvCxnSpPr>
          <p:nvPr/>
        </p:nvCxnSpPr>
        <p:spPr>
          <a:xfrm>
            <a:off x="7980680" y="5341620"/>
            <a:ext cx="0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/>
          <p:cNvCxnSpPr>
            <a:stCxn id="144" idx="2"/>
            <a:endCxn id="145" idx="0"/>
          </p:cNvCxnSpPr>
          <p:nvPr/>
        </p:nvCxnSpPr>
        <p:spPr>
          <a:xfrm>
            <a:off x="7980680" y="5847080"/>
            <a:ext cx="0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/>
          <p:cNvCxnSpPr>
            <a:endCxn id="141" idx="0"/>
          </p:cNvCxnSpPr>
          <p:nvPr/>
        </p:nvCxnSpPr>
        <p:spPr>
          <a:xfrm>
            <a:off x="7976870" y="3161030"/>
            <a:ext cx="3810" cy="3181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连接符: 肘形 211"/>
          <p:cNvCxnSpPr>
            <a:stCxn id="104" idx="3"/>
            <a:endCxn id="140" idx="1"/>
          </p:cNvCxnSpPr>
          <p:nvPr/>
        </p:nvCxnSpPr>
        <p:spPr>
          <a:xfrm flipV="1">
            <a:off x="6271895" y="4157980"/>
            <a:ext cx="684530" cy="50419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箭头连接符 230"/>
          <p:cNvCxnSpPr>
            <a:endCxn id="106" idx="2"/>
          </p:cNvCxnSpPr>
          <p:nvPr/>
        </p:nvCxnSpPr>
        <p:spPr>
          <a:xfrm flipH="1" flipV="1">
            <a:off x="5075555" y="5847080"/>
            <a:ext cx="635" cy="3365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/>
          <p:cNvCxnSpPr>
            <a:stCxn id="100" idx="3"/>
            <a:endCxn id="175" idx="1"/>
          </p:cNvCxnSpPr>
          <p:nvPr/>
        </p:nvCxnSpPr>
        <p:spPr>
          <a:xfrm>
            <a:off x="6272530" y="3145790"/>
            <a:ext cx="4162425" cy="203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>
            <a:stCxn id="142" idx="3"/>
            <a:endCxn id="53" idx="1"/>
          </p:cNvCxnSpPr>
          <p:nvPr/>
        </p:nvCxnSpPr>
        <p:spPr>
          <a:xfrm>
            <a:off x="9004709" y="4662603"/>
            <a:ext cx="14300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/>
          <p:cNvCxnSpPr>
            <a:stCxn id="145" idx="3"/>
            <a:endCxn id="54" idx="1"/>
          </p:cNvCxnSpPr>
          <p:nvPr/>
        </p:nvCxnSpPr>
        <p:spPr>
          <a:xfrm>
            <a:off x="9004073" y="6179391"/>
            <a:ext cx="143065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连接符: 肘形 219"/>
          <p:cNvCxnSpPr>
            <a:stCxn id="35" idx="3"/>
            <a:endCxn id="144" idx="1"/>
          </p:cNvCxnSpPr>
          <p:nvPr/>
        </p:nvCxnSpPr>
        <p:spPr>
          <a:xfrm flipV="1">
            <a:off x="2531745" y="5673090"/>
            <a:ext cx="4424680" cy="506095"/>
          </a:xfrm>
          <a:prstGeom prst="bentConnector3">
            <a:avLst>
              <a:gd name="adj1" fmla="val 9282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7620" y="663503"/>
            <a:ext cx="2686685" cy="6194497"/>
            <a:chOff x="158" y="148"/>
            <a:chExt cx="4231" cy="9755"/>
          </a:xfrm>
        </p:grpSpPr>
        <p:sp>
          <p:nvSpPr>
            <p:cNvPr id="2" name="矩形 1"/>
            <p:cNvSpPr/>
            <p:nvPr/>
          </p:nvSpPr>
          <p:spPr>
            <a:xfrm>
              <a:off x="158" y="1211"/>
              <a:ext cx="4231" cy="869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: 圆角 4"/>
            <p:cNvSpPr/>
            <p:nvPr/>
          </p:nvSpPr>
          <p:spPr>
            <a:xfrm>
              <a:off x="364" y="1403"/>
              <a:ext cx="3769" cy="547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Conv k=3  s=2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矩形: 圆角 5"/>
            <p:cNvSpPr/>
            <p:nvPr/>
          </p:nvSpPr>
          <p:spPr>
            <a:xfrm>
              <a:off x="364" y="2193"/>
              <a:ext cx="3769" cy="546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Conv k=3  s=2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矩形: 圆角 6"/>
            <p:cNvSpPr/>
            <p:nvPr/>
          </p:nvSpPr>
          <p:spPr>
            <a:xfrm>
              <a:off x="364" y="2987"/>
              <a:ext cx="3769" cy="547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>
                  <a:solidFill>
                    <a:schemeClr val="bg1"/>
                  </a:solidFill>
                </a:rPr>
                <a:t>C2f</a:t>
              </a:r>
              <a:endParaRPr lang="en-US" altLang="zh-C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矩形: 圆角 7"/>
            <p:cNvSpPr/>
            <p:nvPr/>
          </p:nvSpPr>
          <p:spPr>
            <a:xfrm>
              <a:off x="364" y="3783"/>
              <a:ext cx="3769" cy="548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Conv k=3  s=2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矩形: 圆角 8"/>
            <p:cNvSpPr/>
            <p:nvPr/>
          </p:nvSpPr>
          <p:spPr>
            <a:xfrm>
              <a:off x="364" y="4581"/>
              <a:ext cx="3770" cy="546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>
                  <a:solidFill>
                    <a:schemeClr val="bg1"/>
                  </a:solidFill>
                  <a:sym typeface="+mn-ea"/>
                </a:rPr>
                <a:t>C2f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矩形: 圆角 9"/>
            <p:cNvSpPr/>
            <p:nvPr/>
          </p:nvSpPr>
          <p:spPr>
            <a:xfrm>
              <a:off x="364" y="5376"/>
              <a:ext cx="3769" cy="547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Conv k=3  s=2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矩形: 圆角 10"/>
            <p:cNvSpPr/>
            <p:nvPr/>
          </p:nvSpPr>
          <p:spPr>
            <a:xfrm>
              <a:off x="364" y="6172"/>
              <a:ext cx="3769" cy="547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>
                  <a:solidFill>
                    <a:schemeClr val="bg1"/>
                  </a:solidFill>
                  <a:sym typeface="+mn-ea"/>
                </a:rPr>
                <a:t>C2f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1" name="直接箭头连接符 20"/>
            <p:cNvCxnSpPr>
              <a:stCxn id="14" idx="2"/>
              <a:endCxn id="15" idx="0"/>
            </p:cNvCxnSpPr>
            <p:nvPr/>
          </p:nvCxnSpPr>
          <p:spPr>
            <a:xfrm>
              <a:off x="2249" y="2739"/>
              <a:ext cx="0" cy="24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矩形: 圆角 44"/>
            <p:cNvSpPr/>
            <p:nvPr/>
          </p:nvSpPr>
          <p:spPr>
            <a:xfrm>
              <a:off x="937" y="148"/>
              <a:ext cx="2620" cy="80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Input</a:t>
              </a:r>
              <a:endParaRPr lang="en-US" altLang="zh-CN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640*640*3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364" y="9225"/>
              <a:ext cx="3825" cy="6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华文中宋" panose="02010600040101010101" charset="-122"/>
                  <a:ea typeface="华文中宋" panose="02010600040101010101" charset="-122"/>
                </a:rPr>
                <a:t>Backbone</a:t>
              </a:r>
              <a:endParaRPr lang="en-US" altLang="zh-CN" sz="2000" b="1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cxnSp>
          <p:nvCxnSpPr>
            <p:cNvPr id="24" name="直接箭头连接符 23"/>
            <p:cNvCxnSpPr>
              <a:stCxn id="15" idx="2"/>
              <a:endCxn id="16" idx="0"/>
            </p:cNvCxnSpPr>
            <p:nvPr/>
          </p:nvCxnSpPr>
          <p:spPr>
            <a:xfrm>
              <a:off x="2249" y="3534"/>
              <a:ext cx="0" cy="2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3" idx="2"/>
              <a:endCxn id="14" idx="0"/>
            </p:cNvCxnSpPr>
            <p:nvPr/>
          </p:nvCxnSpPr>
          <p:spPr>
            <a:xfrm>
              <a:off x="2249" y="1950"/>
              <a:ext cx="0" cy="24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16" idx="2"/>
              <a:endCxn id="17" idx="0"/>
            </p:cNvCxnSpPr>
            <p:nvPr/>
          </p:nvCxnSpPr>
          <p:spPr>
            <a:xfrm>
              <a:off x="2249" y="4331"/>
              <a:ext cx="0" cy="25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17" idx="2"/>
              <a:endCxn id="19" idx="0"/>
            </p:cNvCxnSpPr>
            <p:nvPr/>
          </p:nvCxnSpPr>
          <p:spPr>
            <a:xfrm>
              <a:off x="2249" y="5127"/>
              <a:ext cx="0" cy="2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19" idx="2"/>
              <a:endCxn id="20" idx="0"/>
            </p:cNvCxnSpPr>
            <p:nvPr/>
          </p:nvCxnSpPr>
          <p:spPr>
            <a:xfrm>
              <a:off x="2249" y="5923"/>
              <a:ext cx="0" cy="2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20" idx="2"/>
              <a:endCxn id="32" idx="0"/>
            </p:cNvCxnSpPr>
            <p:nvPr/>
          </p:nvCxnSpPr>
          <p:spPr>
            <a:xfrm>
              <a:off x="2249" y="6719"/>
              <a:ext cx="0" cy="2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32" idx="2"/>
              <a:endCxn id="33" idx="0"/>
            </p:cNvCxnSpPr>
            <p:nvPr/>
          </p:nvCxnSpPr>
          <p:spPr>
            <a:xfrm>
              <a:off x="2249" y="7515"/>
              <a:ext cx="0" cy="2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 flipH="1">
              <a:off x="2251" y="993"/>
              <a:ext cx="2" cy="40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矩形: 圆角 9"/>
            <p:cNvSpPr/>
            <p:nvPr/>
          </p:nvSpPr>
          <p:spPr>
            <a:xfrm>
              <a:off x="364" y="6968"/>
              <a:ext cx="3769" cy="547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Conv k=3  s=2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3" name="矩形: 圆角 10"/>
            <p:cNvSpPr/>
            <p:nvPr/>
          </p:nvSpPr>
          <p:spPr>
            <a:xfrm>
              <a:off x="363" y="7764"/>
              <a:ext cx="3771" cy="547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>
                  <a:solidFill>
                    <a:schemeClr val="bg1"/>
                  </a:solidFill>
                  <a:sym typeface="+mn-ea"/>
                </a:rPr>
                <a:t>C2f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cxnSp>
          <p:nvCxnSpPr>
            <p:cNvPr id="34" name="直接箭头连接符 33"/>
            <p:cNvCxnSpPr>
              <a:stCxn id="33" idx="2"/>
              <a:endCxn id="35" idx="0"/>
            </p:cNvCxnSpPr>
            <p:nvPr/>
          </p:nvCxnSpPr>
          <p:spPr>
            <a:xfrm>
              <a:off x="2249" y="8311"/>
              <a:ext cx="0" cy="2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矩形: 圆角 11"/>
            <p:cNvSpPr/>
            <p:nvPr/>
          </p:nvSpPr>
          <p:spPr>
            <a:xfrm>
              <a:off x="364" y="8560"/>
              <a:ext cx="3769" cy="548"/>
            </a:xfrm>
            <a:prstGeom prst="roundRect">
              <a:avLst/>
            </a:prstGeom>
            <a:solidFill>
              <a:srgbClr val="92D050"/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SPPF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37" name="连接符: 肘形 136"/>
          <p:cNvCxnSpPr>
            <a:stCxn id="17" idx="3"/>
            <a:endCxn id="102" idx="1"/>
          </p:cNvCxnSpPr>
          <p:nvPr/>
        </p:nvCxnSpPr>
        <p:spPr>
          <a:xfrm>
            <a:off x="2532380" y="3651885"/>
            <a:ext cx="1345565" cy="317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连接符: 肘形 137"/>
          <p:cNvCxnSpPr>
            <a:stCxn id="20" idx="3"/>
            <a:endCxn id="105" idx="1"/>
          </p:cNvCxnSpPr>
          <p:nvPr/>
        </p:nvCxnSpPr>
        <p:spPr>
          <a:xfrm>
            <a:off x="2531745" y="4662805"/>
            <a:ext cx="1346835" cy="504825"/>
          </a:xfrm>
          <a:prstGeom prst="bentConnector3">
            <a:avLst>
              <a:gd name="adj1" fmla="val 5002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174"/>
          <p:cNvSpPr/>
          <p:nvPr/>
        </p:nvSpPr>
        <p:spPr>
          <a:xfrm>
            <a:off x="10434955" y="4396740"/>
            <a:ext cx="1510030" cy="53213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Pose</a:t>
            </a:r>
            <a:endParaRPr lang="en-US" altLang="zh-CN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4" name="矩形: 圆角 174"/>
          <p:cNvSpPr/>
          <p:nvPr/>
        </p:nvSpPr>
        <p:spPr>
          <a:xfrm>
            <a:off x="10434955" y="5930900"/>
            <a:ext cx="1510030" cy="49657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Pose</a:t>
            </a:r>
            <a:endParaRPr lang="en-US" altLang="zh-CN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227320" y="6427470"/>
            <a:ext cx="2428874" cy="4178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Neck</a:t>
            </a:r>
            <a:endParaRPr lang="en-US" altLang="zh-CN" sz="2000" b="1" dirty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0446385" y="6427470"/>
            <a:ext cx="1487170" cy="4178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Head</a:t>
            </a:r>
            <a:endParaRPr lang="en-US" altLang="zh-CN" sz="2000" b="1" dirty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33128" y="279416"/>
            <a:ext cx="2277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YOLOv8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0330" y="768985"/>
            <a:ext cx="2686685" cy="60178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220504" y="890982"/>
            <a:ext cx="2393156" cy="347059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231299" y="1392027"/>
            <a:ext cx="2393156" cy="347059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31219" y="1908947"/>
            <a:ext cx="2393156" cy="361959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</a:rPr>
              <a:t>C2f</a:t>
            </a:r>
            <a:endParaRPr lang="en-US" altLang="zh-CN" sz="1600" b="1" dirty="0">
              <a:solidFill>
                <a:schemeClr val="bg1"/>
              </a:solidFill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231140" y="2393777"/>
            <a:ext cx="2393156" cy="361959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213360" y="2910357"/>
            <a:ext cx="2393156" cy="361959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  <a:sym typeface="+mn-ea"/>
              </a:rPr>
              <a:t>C2f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231142" y="3449162"/>
            <a:ext cx="2393154" cy="38337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31140" y="4008755"/>
            <a:ext cx="2393315" cy="40957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  <a:sym typeface="+mn-ea"/>
              </a:rPr>
              <a:t>C2f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4716938" y="1118458"/>
            <a:ext cx="2393154" cy="464365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SPPF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18" name="直接箭头连接符 17"/>
          <p:cNvCxnSpPr>
            <a:endCxn id="7" idx="0"/>
          </p:cNvCxnSpPr>
          <p:nvPr/>
        </p:nvCxnSpPr>
        <p:spPr>
          <a:xfrm flipH="1">
            <a:off x="1427877" y="1739086"/>
            <a:ext cx="6350" cy="1695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矩形: 圆角 44"/>
          <p:cNvSpPr/>
          <p:nvPr/>
        </p:nvSpPr>
        <p:spPr>
          <a:xfrm>
            <a:off x="594756" y="93908"/>
            <a:ext cx="1663700" cy="50837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Input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640*640*3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230982" y="6344829"/>
            <a:ext cx="2428874" cy="4178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Backbone</a:t>
            </a:r>
            <a:endParaRPr lang="en-US" altLang="zh-CN" sz="2000" b="1" dirty="0">
              <a:solidFill>
                <a:schemeClr val="tx1"/>
              </a:solidFill>
            </a:endParaRPr>
          </a:p>
        </p:txBody>
      </p:sp>
      <p:cxnSp>
        <p:nvCxnSpPr>
          <p:cNvPr id="89" name="直接箭头连接符 88"/>
          <p:cNvCxnSpPr>
            <a:endCxn id="8" idx="0"/>
          </p:cNvCxnSpPr>
          <p:nvPr/>
        </p:nvCxnSpPr>
        <p:spPr>
          <a:xfrm flipH="1">
            <a:off x="1428194" y="2251125"/>
            <a:ext cx="6350" cy="1428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1427797" y="1222069"/>
            <a:ext cx="6985" cy="1695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/>
        </p:nvCxnSpPr>
        <p:spPr>
          <a:xfrm flipH="1">
            <a:off x="1418391" y="2755710"/>
            <a:ext cx="6350" cy="1790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/>
        </p:nvCxnSpPr>
        <p:spPr>
          <a:xfrm>
            <a:off x="1424702" y="3272186"/>
            <a:ext cx="1905" cy="1657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/>
        </p:nvCxnSpPr>
        <p:spPr>
          <a:xfrm>
            <a:off x="1416844" y="3832031"/>
            <a:ext cx="635" cy="1784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>
            <a:off x="1419384" y="4418041"/>
            <a:ext cx="8255" cy="1555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>
            <a:stCxn id="2" idx="2"/>
            <a:endCxn id="3" idx="0"/>
          </p:cNvCxnSpPr>
          <p:nvPr/>
        </p:nvCxnSpPr>
        <p:spPr>
          <a:xfrm flipH="1">
            <a:off x="1417558" y="4908412"/>
            <a:ext cx="10795" cy="1422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 flipH="1">
            <a:off x="1429582" y="630645"/>
            <a:ext cx="1191" cy="2559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9" name="矩形 98"/>
          <p:cNvSpPr/>
          <p:nvPr/>
        </p:nvSpPr>
        <p:spPr>
          <a:xfrm>
            <a:off x="3064510" y="743585"/>
            <a:ext cx="5671185" cy="6018530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: 圆角 99"/>
          <p:cNvSpPr/>
          <p:nvPr/>
        </p:nvSpPr>
        <p:spPr>
          <a:xfrm>
            <a:off x="3364000" y="1858347"/>
            <a:ext cx="2402440" cy="366059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sym typeface="+mn-ea"/>
              </a:rPr>
              <a:t>CSPLayer_2Conv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3390184" y="2495533"/>
            <a:ext cx="2394108" cy="36606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Concat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3380664" y="3255130"/>
            <a:ext cx="2385776" cy="40135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Upsample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3390184" y="4037774"/>
            <a:ext cx="2385776" cy="401356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sym typeface="+mn-ea"/>
              </a:rPr>
              <a:t>CSPLayer_2Conv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3381852" y="4748717"/>
            <a:ext cx="2394108" cy="32748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Concat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3381852" y="5383038"/>
            <a:ext cx="2394108" cy="36606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Upsample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108" name="直接箭头连接符 107"/>
          <p:cNvCxnSpPr>
            <a:stCxn id="102" idx="0"/>
          </p:cNvCxnSpPr>
          <p:nvPr/>
        </p:nvCxnSpPr>
        <p:spPr>
          <a:xfrm flipH="1" flipV="1">
            <a:off x="4583072" y="2239725"/>
            <a:ext cx="4166" cy="255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/>
          <p:nvPr/>
        </p:nvCxnSpPr>
        <p:spPr>
          <a:xfrm flipV="1">
            <a:off x="4583072" y="2846274"/>
            <a:ext cx="0" cy="4088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/>
        </p:nvCxnSpPr>
        <p:spPr>
          <a:xfrm flipV="1">
            <a:off x="4583072" y="3656486"/>
            <a:ext cx="0" cy="3812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>
            <a:endCxn id="104" idx="2"/>
          </p:cNvCxnSpPr>
          <p:nvPr/>
        </p:nvCxnSpPr>
        <p:spPr>
          <a:xfrm flipV="1">
            <a:off x="4583072" y="4439130"/>
            <a:ext cx="0" cy="3095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/>
          <p:nvPr/>
        </p:nvCxnSpPr>
        <p:spPr>
          <a:xfrm flipV="1">
            <a:off x="4583072" y="5076197"/>
            <a:ext cx="0" cy="2861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连接符: 肘形 136"/>
          <p:cNvCxnSpPr>
            <a:endCxn id="102" idx="1"/>
          </p:cNvCxnSpPr>
          <p:nvPr/>
        </p:nvCxnSpPr>
        <p:spPr>
          <a:xfrm flipV="1">
            <a:off x="2606675" y="2678563"/>
            <a:ext cx="783509" cy="41261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矩形: 圆角 139"/>
          <p:cNvSpPr/>
          <p:nvPr/>
        </p:nvSpPr>
        <p:spPr>
          <a:xfrm>
            <a:off x="6420215" y="2919809"/>
            <a:ext cx="2068456" cy="353527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Concat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41" name="矩形: 圆角 140"/>
          <p:cNvSpPr/>
          <p:nvPr/>
        </p:nvSpPr>
        <p:spPr>
          <a:xfrm>
            <a:off x="6420214" y="2305077"/>
            <a:ext cx="2068463" cy="39034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42" name="矩形: 圆角 141"/>
          <p:cNvSpPr/>
          <p:nvPr/>
        </p:nvSpPr>
        <p:spPr>
          <a:xfrm>
            <a:off x="6451100" y="3592538"/>
            <a:ext cx="2037572" cy="40135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sym typeface="+mn-ea"/>
              </a:rPr>
              <a:t>CSPLayer_2Conv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43" name="矩形: 圆角 142"/>
          <p:cNvSpPr/>
          <p:nvPr/>
        </p:nvSpPr>
        <p:spPr>
          <a:xfrm>
            <a:off x="6440807" y="4271126"/>
            <a:ext cx="2047864" cy="42714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44" name="矩形: 圆角 143"/>
          <p:cNvSpPr/>
          <p:nvPr/>
        </p:nvSpPr>
        <p:spPr>
          <a:xfrm>
            <a:off x="6451099" y="5012384"/>
            <a:ext cx="2037571" cy="349978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Concat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45" name="矩形: 圆角 144"/>
          <p:cNvSpPr/>
          <p:nvPr/>
        </p:nvSpPr>
        <p:spPr>
          <a:xfrm>
            <a:off x="6440807" y="5591607"/>
            <a:ext cx="2047864" cy="40135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sym typeface="+mn-ea"/>
              </a:rPr>
              <a:t>CSPLayer_2Conv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149" name="直接箭头连接符 148"/>
          <p:cNvCxnSpPr>
            <a:stCxn id="141" idx="2"/>
            <a:endCxn id="140" idx="0"/>
          </p:cNvCxnSpPr>
          <p:nvPr/>
        </p:nvCxnSpPr>
        <p:spPr>
          <a:xfrm flipH="1">
            <a:off x="7454443" y="2695419"/>
            <a:ext cx="3" cy="2243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/>
          <p:cNvCxnSpPr/>
          <p:nvPr/>
        </p:nvCxnSpPr>
        <p:spPr>
          <a:xfrm>
            <a:off x="7454443" y="3281768"/>
            <a:ext cx="0" cy="3059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箭头连接符 162"/>
          <p:cNvCxnSpPr>
            <a:stCxn id="142" idx="2"/>
            <a:endCxn id="143" idx="0"/>
          </p:cNvCxnSpPr>
          <p:nvPr/>
        </p:nvCxnSpPr>
        <p:spPr>
          <a:xfrm flipH="1">
            <a:off x="7464739" y="3993893"/>
            <a:ext cx="5147" cy="2772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/>
          <p:cNvCxnSpPr>
            <a:stCxn id="143" idx="2"/>
            <a:endCxn id="144" idx="0"/>
          </p:cNvCxnSpPr>
          <p:nvPr/>
        </p:nvCxnSpPr>
        <p:spPr>
          <a:xfrm>
            <a:off x="7464739" y="4698268"/>
            <a:ext cx="5146" cy="3141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/>
          <p:cNvCxnSpPr/>
          <p:nvPr/>
        </p:nvCxnSpPr>
        <p:spPr>
          <a:xfrm flipH="1">
            <a:off x="7475031" y="5383149"/>
            <a:ext cx="3" cy="2243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矩形 172"/>
          <p:cNvSpPr/>
          <p:nvPr/>
        </p:nvSpPr>
        <p:spPr>
          <a:xfrm>
            <a:off x="5164460" y="6397643"/>
            <a:ext cx="1203960" cy="316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n>
                  <a:solidFill>
                    <a:sysClr val="windowText" lastClr="000000"/>
                  </a:solidFill>
                </a:ln>
              </a:rPr>
              <a:t>Neck</a:t>
            </a:r>
            <a:endParaRPr lang="en-US" altLang="zh-CN" sz="2000" dirty="0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8881745" y="743585"/>
            <a:ext cx="3309620" cy="6043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81" name="直接箭头连接符 180"/>
          <p:cNvCxnSpPr>
            <a:stCxn id="100" idx="3"/>
          </p:cNvCxnSpPr>
          <p:nvPr/>
        </p:nvCxnSpPr>
        <p:spPr>
          <a:xfrm flipV="1">
            <a:off x="5766440" y="2035027"/>
            <a:ext cx="3020060" cy="63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/>
          <p:nvPr/>
        </p:nvCxnSpPr>
        <p:spPr>
          <a:xfrm flipV="1">
            <a:off x="8471309" y="3786865"/>
            <a:ext cx="302260" cy="12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/>
          <p:cNvCxnSpPr/>
          <p:nvPr/>
        </p:nvCxnSpPr>
        <p:spPr>
          <a:xfrm flipV="1">
            <a:off x="8488453" y="5769108"/>
            <a:ext cx="247015" cy="63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/>
          <p:cNvCxnSpPr>
            <a:endCxn id="141" idx="0"/>
          </p:cNvCxnSpPr>
          <p:nvPr/>
        </p:nvCxnSpPr>
        <p:spPr>
          <a:xfrm>
            <a:off x="7454443" y="2064458"/>
            <a:ext cx="3" cy="2406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连接符: 肘形 211"/>
          <p:cNvCxnSpPr>
            <a:stCxn id="104" idx="3"/>
            <a:endCxn id="140" idx="1"/>
          </p:cNvCxnSpPr>
          <p:nvPr/>
        </p:nvCxnSpPr>
        <p:spPr>
          <a:xfrm flipV="1">
            <a:off x="5775960" y="3096573"/>
            <a:ext cx="644255" cy="114187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连接符: 肘形 219"/>
          <p:cNvCxnSpPr>
            <a:endCxn id="145" idx="1"/>
          </p:cNvCxnSpPr>
          <p:nvPr/>
        </p:nvCxnSpPr>
        <p:spPr>
          <a:xfrm flipV="1">
            <a:off x="2580005" y="5792285"/>
            <a:ext cx="3860802" cy="404680"/>
          </a:xfrm>
          <a:prstGeom prst="bentConnector3">
            <a:avLst>
              <a:gd name="adj1" fmla="val 9122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箭头连接符 230"/>
          <p:cNvCxnSpPr/>
          <p:nvPr/>
        </p:nvCxnSpPr>
        <p:spPr>
          <a:xfrm flipV="1">
            <a:off x="4590692" y="5705942"/>
            <a:ext cx="0" cy="4910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矩形 239"/>
          <p:cNvSpPr/>
          <p:nvPr/>
        </p:nvSpPr>
        <p:spPr>
          <a:xfrm>
            <a:off x="10049510" y="6351828"/>
            <a:ext cx="974090" cy="403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head</a:t>
            </a:r>
            <a:endParaRPr lang="en-US" altLang="zh-CN" sz="2000" dirty="0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矩形: 圆角 9"/>
          <p:cNvSpPr/>
          <p:nvPr/>
        </p:nvSpPr>
        <p:spPr>
          <a:xfrm>
            <a:off x="231140" y="4573905"/>
            <a:ext cx="2393315" cy="33464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矩形: 圆角 10"/>
          <p:cNvSpPr/>
          <p:nvPr/>
        </p:nvSpPr>
        <p:spPr>
          <a:xfrm>
            <a:off x="220345" y="5050790"/>
            <a:ext cx="2393315" cy="44259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  <a:sym typeface="+mn-ea"/>
              </a:rPr>
              <a:t>C2f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14" name="直接箭头连接符 13"/>
          <p:cNvCxnSpPr>
            <a:endCxn id="15" idx="0"/>
          </p:cNvCxnSpPr>
          <p:nvPr/>
        </p:nvCxnSpPr>
        <p:spPr>
          <a:xfrm flipH="1">
            <a:off x="1428353" y="5486897"/>
            <a:ext cx="1905" cy="3429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矩形: 圆角 11"/>
          <p:cNvSpPr/>
          <p:nvPr/>
        </p:nvSpPr>
        <p:spPr>
          <a:xfrm>
            <a:off x="231140" y="5829935"/>
            <a:ext cx="2393315" cy="463550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SPPF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16" name="肘形连接符 15"/>
          <p:cNvCxnSpPr>
            <a:stCxn id="11" idx="3"/>
            <a:endCxn id="105" idx="1"/>
          </p:cNvCxnSpPr>
          <p:nvPr/>
        </p:nvCxnSpPr>
        <p:spPr>
          <a:xfrm>
            <a:off x="2624455" y="4213543"/>
            <a:ext cx="757397" cy="69891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左中括号 16"/>
          <p:cNvSpPr/>
          <p:nvPr/>
        </p:nvSpPr>
        <p:spPr>
          <a:xfrm>
            <a:off x="8786495" y="1687968"/>
            <a:ext cx="107950" cy="6985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左中括号 18"/>
          <p:cNvSpPr/>
          <p:nvPr/>
        </p:nvSpPr>
        <p:spPr>
          <a:xfrm>
            <a:off x="8805545" y="3462793"/>
            <a:ext cx="107950" cy="6985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左中括号 19"/>
          <p:cNvSpPr/>
          <p:nvPr/>
        </p:nvSpPr>
        <p:spPr>
          <a:xfrm>
            <a:off x="8773795" y="5378588"/>
            <a:ext cx="107950" cy="698500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140"/>
          <p:cNvSpPr/>
          <p:nvPr/>
        </p:nvSpPr>
        <p:spPr>
          <a:xfrm>
            <a:off x="8913495" y="1460003"/>
            <a:ext cx="1068070" cy="55816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29" name="矩形: 圆角 140"/>
          <p:cNvSpPr/>
          <p:nvPr/>
        </p:nvSpPr>
        <p:spPr>
          <a:xfrm>
            <a:off x="10127615" y="1460003"/>
            <a:ext cx="1020445" cy="55816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Conv2d 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k=1  s=1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36" name="矩形: 圆角 140"/>
          <p:cNvSpPr/>
          <p:nvPr/>
        </p:nvSpPr>
        <p:spPr>
          <a:xfrm>
            <a:off x="11278235" y="1460003"/>
            <a:ext cx="855345" cy="56388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Bbox.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Loss</a:t>
            </a:r>
            <a:endParaRPr lang="en-US" altLang="zh-CN" sz="1600" b="1" dirty="0">
              <a:solidFill>
                <a:schemeClr val="bg1"/>
              </a:solidFill>
            </a:endParaRPr>
          </a:p>
        </p:txBody>
      </p:sp>
      <p:sp>
        <p:nvSpPr>
          <p:cNvPr id="37" name="矩形: 圆角 140"/>
          <p:cNvSpPr/>
          <p:nvPr/>
        </p:nvSpPr>
        <p:spPr>
          <a:xfrm>
            <a:off x="8913495" y="2163583"/>
            <a:ext cx="1068070" cy="55816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38" name="矩形: 圆角 140"/>
          <p:cNvSpPr/>
          <p:nvPr/>
        </p:nvSpPr>
        <p:spPr>
          <a:xfrm>
            <a:off x="8913495" y="3083063"/>
            <a:ext cx="1068070" cy="55816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39" name="矩形: 圆角 140"/>
          <p:cNvSpPr/>
          <p:nvPr/>
        </p:nvSpPr>
        <p:spPr>
          <a:xfrm>
            <a:off x="8913495" y="3864113"/>
            <a:ext cx="1068070" cy="55816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40" name="矩形: 圆角 140"/>
          <p:cNvSpPr/>
          <p:nvPr/>
        </p:nvSpPr>
        <p:spPr>
          <a:xfrm>
            <a:off x="8913495" y="5016638"/>
            <a:ext cx="1068070" cy="55816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41" name="矩形: 圆角 140"/>
          <p:cNvSpPr/>
          <p:nvPr/>
        </p:nvSpPr>
        <p:spPr>
          <a:xfrm>
            <a:off x="8913495" y="5689103"/>
            <a:ext cx="1068070" cy="55816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42" name="矩形: 圆角 140"/>
          <p:cNvSpPr/>
          <p:nvPr/>
        </p:nvSpPr>
        <p:spPr>
          <a:xfrm>
            <a:off x="10127615" y="2163583"/>
            <a:ext cx="1020445" cy="55816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Conv2d 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k=1  s=1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43" name="矩形: 圆角 140"/>
          <p:cNvSpPr/>
          <p:nvPr/>
        </p:nvSpPr>
        <p:spPr>
          <a:xfrm>
            <a:off x="10127615" y="3068458"/>
            <a:ext cx="1020445" cy="55816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Conv2d 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k=1  s=1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44" name="矩形: 圆角 140"/>
          <p:cNvSpPr/>
          <p:nvPr/>
        </p:nvSpPr>
        <p:spPr>
          <a:xfrm>
            <a:off x="10127615" y="3844428"/>
            <a:ext cx="1020445" cy="55816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Conv2d 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k=1  s=1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47" name="矩形: 圆角 140"/>
          <p:cNvSpPr/>
          <p:nvPr/>
        </p:nvSpPr>
        <p:spPr>
          <a:xfrm>
            <a:off x="10127615" y="5016638"/>
            <a:ext cx="1020445" cy="55816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Conv2d 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k=1  s=1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48" name="矩形: 圆角 140"/>
          <p:cNvSpPr/>
          <p:nvPr/>
        </p:nvSpPr>
        <p:spPr>
          <a:xfrm>
            <a:off x="10127615" y="5689103"/>
            <a:ext cx="1020445" cy="55816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Conv2d 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k=1  s=1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51" name="矩形: 圆角 140"/>
          <p:cNvSpPr/>
          <p:nvPr/>
        </p:nvSpPr>
        <p:spPr>
          <a:xfrm>
            <a:off x="11278235" y="2157868"/>
            <a:ext cx="855345" cy="56388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Cls.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Loss</a:t>
            </a:r>
            <a:endParaRPr lang="en-US" altLang="zh-CN" sz="1600" b="1" dirty="0">
              <a:solidFill>
                <a:schemeClr val="bg1"/>
              </a:solidFill>
            </a:endParaRPr>
          </a:p>
        </p:txBody>
      </p:sp>
      <p:sp>
        <p:nvSpPr>
          <p:cNvPr id="52" name="矩形: 圆角 140"/>
          <p:cNvSpPr/>
          <p:nvPr/>
        </p:nvSpPr>
        <p:spPr>
          <a:xfrm>
            <a:off x="11278235" y="3083063"/>
            <a:ext cx="855345" cy="56388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Bbox.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Loss</a:t>
            </a:r>
            <a:endParaRPr lang="en-US" altLang="zh-CN" sz="1600" b="1" dirty="0">
              <a:solidFill>
                <a:schemeClr val="bg1"/>
              </a:solidFill>
            </a:endParaRPr>
          </a:p>
        </p:txBody>
      </p:sp>
      <p:sp>
        <p:nvSpPr>
          <p:cNvPr id="53" name="矩形: 圆角 140"/>
          <p:cNvSpPr/>
          <p:nvPr/>
        </p:nvSpPr>
        <p:spPr>
          <a:xfrm>
            <a:off x="11278235" y="3838713"/>
            <a:ext cx="855345" cy="56388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Cls.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Loss</a:t>
            </a:r>
            <a:endParaRPr lang="en-US" altLang="zh-CN" sz="1600" b="1" dirty="0">
              <a:solidFill>
                <a:schemeClr val="bg1"/>
              </a:solidFill>
            </a:endParaRPr>
          </a:p>
        </p:txBody>
      </p:sp>
      <p:sp>
        <p:nvSpPr>
          <p:cNvPr id="54" name="矩形: 圆角 140"/>
          <p:cNvSpPr/>
          <p:nvPr/>
        </p:nvSpPr>
        <p:spPr>
          <a:xfrm>
            <a:off x="11278235" y="4995683"/>
            <a:ext cx="855345" cy="56388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Bbox.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Loss</a:t>
            </a:r>
            <a:endParaRPr lang="en-US" altLang="zh-CN" sz="1600" b="1" dirty="0">
              <a:solidFill>
                <a:schemeClr val="bg1"/>
              </a:solidFill>
            </a:endParaRPr>
          </a:p>
        </p:txBody>
      </p:sp>
      <p:sp>
        <p:nvSpPr>
          <p:cNvPr id="55" name="矩形: 圆角 140"/>
          <p:cNvSpPr/>
          <p:nvPr/>
        </p:nvSpPr>
        <p:spPr>
          <a:xfrm>
            <a:off x="11278235" y="5689103"/>
            <a:ext cx="855345" cy="56388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Cls.</a:t>
            </a:r>
            <a:endParaRPr lang="en-US" altLang="zh-CN" sz="16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Loss</a:t>
            </a:r>
            <a:endParaRPr lang="en-US" altLang="zh-CN" sz="1600" b="1" dirty="0">
              <a:solidFill>
                <a:schemeClr val="bg1"/>
              </a:solidFill>
            </a:endParaRPr>
          </a:p>
        </p:txBody>
      </p:sp>
      <p:cxnSp>
        <p:nvCxnSpPr>
          <p:cNvPr id="58" name="直接箭头连接符 57"/>
          <p:cNvCxnSpPr>
            <a:stCxn id="21" idx="3"/>
            <a:endCxn id="29" idx="1"/>
          </p:cNvCxnSpPr>
          <p:nvPr/>
        </p:nvCxnSpPr>
        <p:spPr>
          <a:xfrm>
            <a:off x="9981565" y="1739403"/>
            <a:ext cx="14605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11148060" y="1739403"/>
            <a:ext cx="14605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9981565" y="2439808"/>
            <a:ext cx="14605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>
            <a:off x="11148060" y="2439808"/>
            <a:ext cx="14605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9981565" y="3383418"/>
            <a:ext cx="14605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>
            <a:off x="11132185" y="3383418"/>
            <a:ext cx="14605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9981565" y="4161293"/>
            <a:ext cx="14605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11148060" y="4142878"/>
            <a:ext cx="14605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9981565" y="5296038"/>
            <a:ext cx="14605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/>
          <p:nvPr/>
        </p:nvCxnSpPr>
        <p:spPr>
          <a:xfrm>
            <a:off x="9981565" y="5976123"/>
            <a:ext cx="14605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11132185" y="5296038"/>
            <a:ext cx="14605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11148060" y="5976123"/>
            <a:ext cx="14605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133128" y="279416"/>
            <a:ext cx="2277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YOLOv8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图片 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66467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2995425" y="756298"/>
            <a:ext cx="5608080" cy="1827889"/>
            <a:chOff x="3419319" y="2994071"/>
            <a:chExt cx="7142946" cy="204938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9319" y="2994071"/>
              <a:ext cx="7142946" cy="2049389"/>
            </a:xfrm>
            <a:prstGeom prst="rect">
              <a:avLst/>
            </a:prstGeom>
          </p:spPr>
        </p:pic>
        <p:pic>
          <p:nvPicPr>
            <p:cNvPr id="79" name="图片 7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9320" y="3003219"/>
              <a:ext cx="3190752" cy="839358"/>
            </a:xfrm>
            <a:prstGeom prst="rect">
              <a:avLst/>
            </a:prstGeom>
          </p:spPr>
        </p:pic>
      </p:grpSp>
      <p:sp>
        <p:nvSpPr>
          <p:cNvPr id="82" name="文本框 81"/>
          <p:cNvSpPr txBox="1"/>
          <p:nvPr/>
        </p:nvSpPr>
        <p:spPr>
          <a:xfrm>
            <a:off x="5133128" y="143546"/>
            <a:ext cx="2277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YOLOv8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795" y="550052"/>
            <a:ext cx="2841749" cy="22403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 98"/>
          <p:cNvSpPr/>
          <p:nvPr/>
        </p:nvSpPr>
        <p:spPr>
          <a:xfrm>
            <a:off x="2693670" y="1337945"/>
            <a:ext cx="7625080" cy="5520690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矩形 173"/>
          <p:cNvSpPr/>
          <p:nvPr/>
        </p:nvSpPr>
        <p:spPr>
          <a:xfrm>
            <a:off x="10318115" y="1338580"/>
            <a:ext cx="1743075" cy="5518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5" name="矩形: 圆角 174"/>
          <p:cNvSpPr/>
          <p:nvPr/>
        </p:nvSpPr>
        <p:spPr>
          <a:xfrm>
            <a:off x="10434955" y="1887220"/>
            <a:ext cx="1510030" cy="49657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Pose</a:t>
            </a:r>
            <a:endParaRPr lang="en-US" altLang="zh-CN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0" name="矩形: 圆角 99"/>
          <p:cNvSpPr/>
          <p:nvPr/>
        </p:nvSpPr>
        <p:spPr>
          <a:xfrm>
            <a:off x="3878580" y="2972435"/>
            <a:ext cx="2393950" cy="34671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  <a:sym typeface="+mn-ea"/>
              </a:rPr>
              <a:t>C2f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3877945" y="3478530"/>
            <a:ext cx="2393950" cy="34671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Concat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3877945" y="3983990"/>
            <a:ext cx="2393950" cy="34671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Upsample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3877945" y="4488180"/>
            <a:ext cx="2393950" cy="34798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  <a:sym typeface="+mn-ea"/>
              </a:rPr>
              <a:t>C2f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3878580" y="4993640"/>
            <a:ext cx="2393950" cy="34798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Concat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3878580" y="5500370"/>
            <a:ext cx="2393315" cy="34671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Upsample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108" name="直接箭头连接符 107"/>
          <p:cNvCxnSpPr>
            <a:stCxn id="102" idx="0"/>
            <a:endCxn id="100" idx="2"/>
          </p:cNvCxnSpPr>
          <p:nvPr/>
        </p:nvCxnSpPr>
        <p:spPr>
          <a:xfrm flipV="1">
            <a:off x="5074920" y="3319145"/>
            <a:ext cx="635" cy="1593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>
            <a:stCxn id="103" idx="0"/>
            <a:endCxn id="102" idx="2"/>
          </p:cNvCxnSpPr>
          <p:nvPr/>
        </p:nvCxnSpPr>
        <p:spPr>
          <a:xfrm flipV="1">
            <a:off x="5074920" y="3825240"/>
            <a:ext cx="0" cy="158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>
            <a:endCxn id="103" idx="2"/>
          </p:cNvCxnSpPr>
          <p:nvPr/>
        </p:nvCxnSpPr>
        <p:spPr>
          <a:xfrm flipV="1">
            <a:off x="5074920" y="4330700"/>
            <a:ext cx="0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>
            <a:stCxn id="105" idx="0"/>
            <a:endCxn id="104" idx="2"/>
          </p:cNvCxnSpPr>
          <p:nvPr/>
        </p:nvCxnSpPr>
        <p:spPr>
          <a:xfrm flipH="1" flipV="1">
            <a:off x="5074920" y="4836160"/>
            <a:ext cx="635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>
            <a:stCxn id="106" idx="0"/>
            <a:endCxn id="105" idx="2"/>
          </p:cNvCxnSpPr>
          <p:nvPr/>
        </p:nvCxnSpPr>
        <p:spPr>
          <a:xfrm flipV="1">
            <a:off x="5075555" y="5341620"/>
            <a:ext cx="0" cy="158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矩形: 圆角 139"/>
          <p:cNvSpPr/>
          <p:nvPr/>
        </p:nvSpPr>
        <p:spPr>
          <a:xfrm>
            <a:off x="6956425" y="2973705"/>
            <a:ext cx="2048510" cy="347345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Concat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41" name="矩形: 圆角 140"/>
          <p:cNvSpPr/>
          <p:nvPr/>
        </p:nvSpPr>
        <p:spPr>
          <a:xfrm>
            <a:off x="6956425" y="2468880"/>
            <a:ext cx="2047875" cy="34671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42" name="矩形: 圆角 141"/>
          <p:cNvSpPr/>
          <p:nvPr/>
        </p:nvSpPr>
        <p:spPr>
          <a:xfrm>
            <a:off x="6956425" y="3478530"/>
            <a:ext cx="2048510" cy="34734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  <a:sym typeface="+mn-ea"/>
              </a:rPr>
              <a:t>C2f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43" name="矩形: 圆角 142"/>
          <p:cNvSpPr/>
          <p:nvPr/>
        </p:nvSpPr>
        <p:spPr>
          <a:xfrm>
            <a:off x="6956425" y="4486910"/>
            <a:ext cx="2048510" cy="34798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Conv k=3  s=2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44" name="矩形: 圆角 143"/>
          <p:cNvSpPr/>
          <p:nvPr/>
        </p:nvSpPr>
        <p:spPr>
          <a:xfrm>
            <a:off x="6956425" y="4992370"/>
            <a:ext cx="2048510" cy="34798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bg1"/>
                </a:solidFill>
              </a:rPr>
              <a:t>Concat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45" name="矩形: 圆角 144"/>
          <p:cNvSpPr/>
          <p:nvPr/>
        </p:nvSpPr>
        <p:spPr>
          <a:xfrm>
            <a:off x="6956425" y="5497830"/>
            <a:ext cx="2047875" cy="34925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bg1"/>
                </a:solidFill>
                <a:sym typeface="+mn-ea"/>
              </a:rPr>
              <a:t>C2f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149" name="直接箭头连接符 148"/>
          <p:cNvCxnSpPr>
            <a:stCxn id="141" idx="2"/>
            <a:endCxn id="140" idx="0"/>
          </p:cNvCxnSpPr>
          <p:nvPr/>
        </p:nvCxnSpPr>
        <p:spPr>
          <a:xfrm>
            <a:off x="7980680" y="2815590"/>
            <a:ext cx="0" cy="1581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/>
          <p:cNvCxnSpPr>
            <a:stCxn id="140" idx="2"/>
          </p:cNvCxnSpPr>
          <p:nvPr/>
        </p:nvCxnSpPr>
        <p:spPr>
          <a:xfrm>
            <a:off x="7980680" y="3321050"/>
            <a:ext cx="0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箭头连接符 162"/>
          <p:cNvCxnSpPr>
            <a:stCxn id="142" idx="2"/>
            <a:endCxn id="11" idx="0"/>
          </p:cNvCxnSpPr>
          <p:nvPr/>
        </p:nvCxnSpPr>
        <p:spPr>
          <a:xfrm>
            <a:off x="7980680" y="3825875"/>
            <a:ext cx="635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/>
          <p:cNvCxnSpPr>
            <a:stCxn id="143" idx="2"/>
            <a:endCxn id="144" idx="0"/>
          </p:cNvCxnSpPr>
          <p:nvPr/>
        </p:nvCxnSpPr>
        <p:spPr>
          <a:xfrm>
            <a:off x="7980680" y="4834890"/>
            <a:ext cx="0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/>
          <p:cNvCxnSpPr>
            <a:stCxn id="144" idx="2"/>
            <a:endCxn id="145" idx="0"/>
          </p:cNvCxnSpPr>
          <p:nvPr/>
        </p:nvCxnSpPr>
        <p:spPr>
          <a:xfrm>
            <a:off x="7980680" y="5340350"/>
            <a:ext cx="0" cy="1574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/>
          <p:cNvCxnSpPr>
            <a:stCxn id="5" idx="2"/>
            <a:endCxn id="141" idx="0"/>
          </p:cNvCxnSpPr>
          <p:nvPr/>
        </p:nvCxnSpPr>
        <p:spPr>
          <a:xfrm flipH="1">
            <a:off x="7980680" y="2309495"/>
            <a:ext cx="635" cy="1593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连接符: 肘形 211"/>
          <p:cNvCxnSpPr>
            <a:stCxn id="104" idx="3"/>
            <a:endCxn id="140" idx="1"/>
          </p:cNvCxnSpPr>
          <p:nvPr/>
        </p:nvCxnSpPr>
        <p:spPr>
          <a:xfrm flipV="1">
            <a:off x="6271895" y="3147695"/>
            <a:ext cx="684530" cy="151447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箭头连接符 230"/>
          <p:cNvCxnSpPr>
            <a:endCxn id="106" idx="2"/>
          </p:cNvCxnSpPr>
          <p:nvPr/>
        </p:nvCxnSpPr>
        <p:spPr>
          <a:xfrm flipH="1" flipV="1">
            <a:off x="5075555" y="5847080"/>
            <a:ext cx="635" cy="3365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/>
          <p:cNvCxnSpPr>
            <a:stCxn id="100" idx="3"/>
            <a:endCxn id="5" idx="1"/>
          </p:cNvCxnSpPr>
          <p:nvPr/>
        </p:nvCxnSpPr>
        <p:spPr>
          <a:xfrm flipV="1">
            <a:off x="6272530" y="2136140"/>
            <a:ext cx="684530" cy="10096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>
            <a:stCxn id="11" idx="3"/>
            <a:endCxn id="53" idx="1"/>
          </p:cNvCxnSpPr>
          <p:nvPr/>
        </p:nvCxnSpPr>
        <p:spPr>
          <a:xfrm flipV="1">
            <a:off x="9004709" y="4155873"/>
            <a:ext cx="1418590" cy="6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/>
          <p:cNvCxnSpPr>
            <a:stCxn id="9" idx="3"/>
            <a:endCxn id="54" idx="1"/>
          </p:cNvCxnSpPr>
          <p:nvPr/>
        </p:nvCxnSpPr>
        <p:spPr>
          <a:xfrm>
            <a:off x="9004708" y="6178756"/>
            <a:ext cx="1430020" cy="6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7620" y="663503"/>
            <a:ext cx="2686685" cy="6194497"/>
            <a:chOff x="158" y="148"/>
            <a:chExt cx="4231" cy="9755"/>
          </a:xfrm>
        </p:grpSpPr>
        <p:sp>
          <p:nvSpPr>
            <p:cNvPr id="2" name="矩形 1"/>
            <p:cNvSpPr/>
            <p:nvPr/>
          </p:nvSpPr>
          <p:spPr>
            <a:xfrm>
              <a:off x="158" y="1211"/>
              <a:ext cx="4231" cy="869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: 圆角 4"/>
            <p:cNvSpPr/>
            <p:nvPr/>
          </p:nvSpPr>
          <p:spPr>
            <a:xfrm>
              <a:off x="364" y="1403"/>
              <a:ext cx="3769" cy="547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Conv k=3  s=2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矩形: 圆角 5"/>
            <p:cNvSpPr/>
            <p:nvPr/>
          </p:nvSpPr>
          <p:spPr>
            <a:xfrm>
              <a:off x="364" y="2193"/>
              <a:ext cx="3769" cy="546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Conv k=3  s=2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矩形: 圆角 6"/>
            <p:cNvSpPr/>
            <p:nvPr/>
          </p:nvSpPr>
          <p:spPr>
            <a:xfrm>
              <a:off x="364" y="2987"/>
              <a:ext cx="3769" cy="547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>
                  <a:solidFill>
                    <a:schemeClr val="bg1"/>
                  </a:solidFill>
                </a:rPr>
                <a:t>C2f</a:t>
              </a:r>
              <a:endParaRPr lang="en-US" altLang="zh-C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矩形: 圆角 7"/>
            <p:cNvSpPr/>
            <p:nvPr/>
          </p:nvSpPr>
          <p:spPr>
            <a:xfrm>
              <a:off x="364" y="3783"/>
              <a:ext cx="3769" cy="548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Conv k=3  s=2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矩形: 圆角 8"/>
            <p:cNvSpPr/>
            <p:nvPr/>
          </p:nvSpPr>
          <p:spPr>
            <a:xfrm>
              <a:off x="364" y="4581"/>
              <a:ext cx="3770" cy="546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>
                  <a:solidFill>
                    <a:schemeClr val="bg1"/>
                  </a:solidFill>
                  <a:sym typeface="+mn-ea"/>
                </a:rPr>
                <a:t>C2f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矩形: 圆角 9"/>
            <p:cNvSpPr/>
            <p:nvPr/>
          </p:nvSpPr>
          <p:spPr>
            <a:xfrm>
              <a:off x="364" y="5376"/>
              <a:ext cx="3769" cy="547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Conv k=3  s=2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矩形: 圆角 10"/>
            <p:cNvSpPr/>
            <p:nvPr/>
          </p:nvSpPr>
          <p:spPr>
            <a:xfrm>
              <a:off x="364" y="6172"/>
              <a:ext cx="3769" cy="547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>
                  <a:solidFill>
                    <a:schemeClr val="bg1"/>
                  </a:solidFill>
                  <a:sym typeface="+mn-ea"/>
                </a:rPr>
                <a:t>C2f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1" name="直接箭头连接符 20"/>
            <p:cNvCxnSpPr>
              <a:stCxn id="14" idx="2"/>
              <a:endCxn id="15" idx="0"/>
            </p:cNvCxnSpPr>
            <p:nvPr/>
          </p:nvCxnSpPr>
          <p:spPr>
            <a:xfrm>
              <a:off x="2249" y="2739"/>
              <a:ext cx="0" cy="24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矩形: 圆角 44"/>
            <p:cNvSpPr/>
            <p:nvPr/>
          </p:nvSpPr>
          <p:spPr>
            <a:xfrm>
              <a:off x="937" y="148"/>
              <a:ext cx="2620" cy="80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Input</a:t>
              </a:r>
              <a:endParaRPr lang="en-US" altLang="zh-CN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640*640*3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364" y="9225"/>
              <a:ext cx="3825" cy="6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华文中宋" panose="02010600040101010101" charset="-122"/>
                  <a:ea typeface="华文中宋" panose="02010600040101010101" charset="-122"/>
                </a:rPr>
                <a:t>Backbone</a:t>
              </a:r>
              <a:endParaRPr lang="en-US" altLang="zh-CN" sz="2000" b="1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cxnSp>
          <p:nvCxnSpPr>
            <p:cNvPr id="24" name="直接箭头连接符 23"/>
            <p:cNvCxnSpPr>
              <a:stCxn id="15" idx="2"/>
              <a:endCxn id="16" idx="0"/>
            </p:cNvCxnSpPr>
            <p:nvPr/>
          </p:nvCxnSpPr>
          <p:spPr>
            <a:xfrm>
              <a:off x="2249" y="3534"/>
              <a:ext cx="0" cy="2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3" idx="2"/>
              <a:endCxn id="14" idx="0"/>
            </p:cNvCxnSpPr>
            <p:nvPr/>
          </p:nvCxnSpPr>
          <p:spPr>
            <a:xfrm>
              <a:off x="2249" y="1950"/>
              <a:ext cx="0" cy="24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16" idx="2"/>
              <a:endCxn id="17" idx="0"/>
            </p:cNvCxnSpPr>
            <p:nvPr/>
          </p:nvCxnSpPr>
          <p:spPr>
            <a:xfrm>
              <a:off x="2249" y="4331"/>
              <a:ext cx="0" cy="25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17" idx="2"/>
              <a:endCxn id="19" idx="0"/>
            </p:cNvCxnSpPr>
            <p:nvPr/>
          </p:nvCxnSpPr>
          <p:spPr>
            <a:xfrm>
              <a:off x="2249" y="5127"/>
              <a:ext cx="0" cy="2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19" idx="2"/>
              <a:endCxn id="20" idx="0"/>
            </p:cNvCxnSpPr>
            <p:nvPr/>
          </p:nvCxnSpPr>
          <p:spPr>
            <a:xfrm>
              <a:off x="2249" y="5923"/>
              <a:ext cx="0" cy="2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20" idx="2"/>
              <a:endCxn id="32" idx="0"/>
            </p:cNvCxnSpPr>
            <p:nvPr/>
          </p:nvCxnSpPr>
          <p:spPr>
            <a:xfrm>
              <a:off x="2249" y="6719"/>
              <a:ext cx="0" cy="2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32" idx="2"/>
              <a:endCxn id="33" idx="0"/>
            </p:cNvCxnSpPr>
            <p:nvPr/>
          </p:nvCxnSpPr>
          <p:spPr>
            <a:xfrm>
              <a:off x="2249" y="7515"/>
              <a:ext cx="0" cy="2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 flipH="1">
              <a:off x="2251" y="993"/>
              <a:ext cx="2" cy="40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矩形: 圆角 9"/>
            <p:cNvSpPr/>
            <p:nvPr/>
          </p:nvSpPr>
          <p:spPr>
            <a:xfrm>
              <a:off x="364" y="6968"/>
              <a:ext cx="3769" cy="547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Conv k=3  s=2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3" name="矩形: 圆角 10"/>
            <p:cNvSpPr/>
            <p:nvPr/>
          </p:nvSpPr>
          <p:spPr>
            <a:xfrm>
              <a:off x="363" y="7764"/>
              <a:ext cx="3771" cy="547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>
                  <a:solidFill>
                    <a:schemeClr val="bg1"/>
                  </a:solidFill>
                  <a:sym typeface="+mn-ea"/>
                </a:rPr>
                <a:t>C2f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cxnSp>
          <p:nvCxnSpPr>
            <p:cNvPr id="34" name="直接箭头连接符 33"/>
            <p:cNvCxnSpPr>
              <a:stCxn id="33" idx="2"/>
              <a:endCxn id="35" idx="0"/>
            </p:cNvCxnSpPr>
            <p:nvPr/>
          </p:nvCxnSpPr>
          <p:spPr>
            <a:xfrm>
              <a:off x="2249" y="8311"/>
              <a:ext cx="0" cy="2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矩形: 圆角 11"/>
            <p:cNvSpPr/>
            <p:nvPr/>
          </p:nvSpPr>
          <p:spPr>
            <a:xfrm>
              <a:off x="364" y="8560"/>
              <a:ext cx="3769" cy="548"/>
            </a:xfrm>
            <a:prstGeom prst="roundRect">
              <a:avLst/>
            </a:prstGeom>
            <a:solidFill>
              <a:srgbClr val="92D050"/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SPPF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37" name="连接符: 肘形 136"/>
          <p:cNvCxnSpPr>
            <a:stCxn id="17" idx="3"/>
            <a:endCxn id="102" idx="1"/>
          </p:cNvCxnSpPr>
          <p:nvPr/>
        </p:nvCxnSpPr>
        <p:spPr>
          <a:xfrm>
            <a:off x="2532380" y="3651885"/>
            <a:ext cx="1345565" cy="317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连接符: 肘形 137"/>
          <p:cNvCxnSpPr>
            <a:stCxn id="20" idx="3"/>
            <a:endCxn id="105" idx="1"/>
          </p:cNvCxnSpPr>
          <p:nvPr/>
        </p:nvCxnSpPr>
        <p:spPr>
          <a:xfrm>
            <a:off x="2531745" y="4662805"/>
            <a:ext cx="1346835" cy="504825"/>
          </a:xfrm>
          <a:prstGeom prst="bentConnector3">
            <a:avLst>
              <a:gd name="adj1" fmla="val 5002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174"/>
          <p:cNvSpPr/>
          <p:nvPr/>
        </p:nvSpPr>
        <p:spPr>
          <a:xfrm>
            <a:off x="10423525" y="3907790"/>
            <a:ext cx="1510030" cy="49657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Pose</a:t>
            </a:r>
            <a:endParaRPr lang="en-US" altLang="zh-CN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4" name="矩形: 圆角 174"/>
          <p:cNvSpPr/>
          <p:nvPr/>
        </p:nvSpPr>
        <p:spPr>
          <a:xfrm>
            <a:off x="10434955" y="5930900"/>
            <a:ext cx="1510030" cy="49657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Pose</a:t>
            </a:r>
            <a:endParaRPr lang="en-US" altLang="zh-CN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227320" y="6427470"/>
            <a:ext cx="2428874" cy="4178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Neck</a:t>
            </a:r>
            <a:endParaRPr lang="en-US" altLang="zh-CN" sz="2000" b="1" dirty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0446385" y="6427470"/>
            <a:ext cx="1487170" cy="4178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Head</a:t>
            </a:r>
            <a:endParaRPr lang="en-US" altLang="zh-CN" sz="2000" b="1" dirty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33128" y="279416"/>
            <a:ext cx="227753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YOLOv8+ca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: 圆角 140"/>
          <p:cNvSpPr/>
          <p:nvPr/>
        </p:nvSpPr>
        <p:spPr>
          <a:xfrm>
            <a:off x="6957060" y="1962785"/>
            <a:ext cx="2047875" cy="346710"/>
          </a:xfrm>
          <a:prstGeom prst="roundRect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CoordAtt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8" name="直接箭头连接符 7"/>
          <p:cNvCxnSpPr>
            <a:stCxn id="5" idx="3"/>
            <a:endCxn id="175" idx="1"/>
          </p:cNvCxnSpPr>
          <p:nvPr/>
        </p:nvCxnSpPr>
        <p:spPr>
          <a:xfrm flipV="1">
            <a:off x="9004935" y="2135505"/>
            <a:ext cx="1430020" cy="6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140"/>
          <p:cNvSpPr/>
          <p:nvPr/>
        </p:nvSpPr>
        <p:spPr>
          <a:xfrm>
            <a:off x="6957060" y="6005195"/>
            <a:ext cx="2047875" cy="346710"/>
          </a:xfrm>
          <a:prstGeom prst="roundRect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CoordAtt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10" name="直接箭头连接符 9"/>
          <p:cNvCxnSpPr>
            <a:stCxn id="145" idx="2"/>
            <a:endCxn id="9" idx="0"/>
          </p:cNvCxnSpPr>
          <p:nvPr/>
        </p:nvCxnSpPr>
        <p:spPr>
          <a:xfrm>
            <a:off x="7980453" y="5847286"/>
            <a:ext cx="635" cy="1581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40"/>
          <p:cNvSpPr/>
          <p:nvPr/>
        </p:nvSpPr>
        <p:spPr>
          <a:xfrm>
            <a:off x="6957060" y="3983355"/>
            <a:ext cx="2047875" cy="346710"/>
          </a:xfrm>
          <a:prstGeom prst="roundRect">
            <a:avLst/>
          </a:prstGeom>
          <a:solidFill>
            <a:srgbClr val="0070C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CoordAtt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12" name="直接箭头连接符 11"/>
          <p:cNvCxnSpPr>
            <a:stCxn id="11" idx="2"/>
            <a:endCxn id="143" idx="0"/>
          </p:cNvCxnSpPr>
          <p:nvPr/>
        </p:nvCxnSpPr>
        <p:spPr>
          <a:xfrm flipH="1">
            <a:off x="7980680" y="4330065"/>
            <a:ext cx="635" cy="1568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连接符: 肘形 219"/>
          <p:cNvCxnSpPr>
            <a:stCxn id="35" idx="3"/>
            <a:endCxn id="144" idx="1"/>
          </p:cNvCxnSpPr>
          <p:nvPr/>
        </p:nvCxnSpPr>
        <p:spPr>
          <a:xfrm flipV="1">
            <a:off x="2531745" y="5166360"/>
            <a:ext cx="4424680" cy="1012825"/>
          </a:xfrm>
          <a:prstGeom prst="bentConnector3">
            <a:avLst>
              <a:gd name="adj1" fmla="val 9219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/>
          <p:cNvGrpSpPr/>
          <p:nvPr/>
        </p:nvGrpSpPr>
        <p:grpSpPr>
          <a:xfrm>
            <a:off x="5151120" y="673100"/>
            <a:ext cx="4109085" cy="989330"/>
            <a:chOff x="3419319" y="2994071"/>
            <a:chExt cx="7142946" cy="2049389"/>
          </a:xfrm>
        </p:grpSpPr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419319" y="2994071"/>
              <a:ext cx="7142946" cy="2049389"/>
            </a:xfrm>
            <a:prstGeom prst="rect">
              <a:avLst/>
            </a:prstGeom>
          </p:spPr>
        </p:pic>
        <p:pic>
          <p:nvPicPr>
            <p:cNvPr id="79" name="图片 7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9320" y="3003219"/>
              <a:ext cx="3190752" cy="839358"/>
            </a:xfrm>
            <a:prstGeom prst="rect">
              <a:avLst/>
            </a:prstGeom>
          </p:spPr>
        </p:pic>
      </p:grpSp>
      <p:pic>
        <p:nvPicPr>
          <p:cNvPr id="84" name="图片 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750" y="663575"/>
            <a:ext cx="2307590" cy="1819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组合 279"/>
          <p:cNvGrpSpPr/>
          <p:nvPr/>
        </p:nvGrpSpPr>
        <p:grpSpPr>
          <a:xfrm>
            <a:off x="0" y="0"/>
            <a:ext cx="8083052" cy="2346159"/>
            <a:chOff x="1566545" y="1523999"/>
            <a:chExt cx="8083052" cy="2346159"/>
          </a:xfrm>
        </p:grpSpPr>
        <p:sp>
          <p:nvSpPr>
            <p:cNvPr id="4" name="矩形 3"/>
            <p:cNvSpPr/>
            <p:nvPr/>
          </p:nvSpPr>
          <p:spPr>
            <a:xfrm>
              <a:off x="1566545" y="1523999"/>
              <a:ext cx="8083052" cy="231203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1875582" y="2846709"/>
              <a:ext cx="1437283" cy="353013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CBS, S=1, K=1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3623820" y="2846709"/>
              <a:ext cx="1444892" cy="353013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Split</a:t>
              </a:r>
              <a:endParaRPr lang="en-US" altLang="zh-CN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5373554" y="1773263"/>
              <a:ext cx="1444892" cy="353011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Bottleneck</a:t>
              </a:r>
              <a:endParaRPr lang="en-US" altLang="zh-CN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7903277" y="2845146"/>
              <a:ext cx="1437283" cy="353012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CBS, S=1, K=1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7127562" y="2800351"/>
              <a:ext cx="466599" cy="442602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C</a:t>
              </a:r>
              <a:endParaRPr lang="en-US" altLang="zh-CN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5373554" y="2303146"/>
              <a:ext cx="1442920" cy="353011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Bottleneck</a:t>
              </a:r>
              <a:endParaRPr lang="en-US" altLang="zh-CN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5373554" y="2846709"/>
              <a:ext cx="1444892" cy="353011"/>
            </a:xfrm>
            <a:prstGeom prst="round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Bottleneck</a:t>
              </a:r>
              <a:endParaRPr lang="en-US" altLang="zh-CN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6" name="直接箭头连接符 15"/>
            <p:cNvCxnSpPr>
              <a:endCxn id="6" idx="1"/>
            </p:cNvCxnSpPr>
            <p:nvPr/>
          </p:nvCxnSpPr>
          <p:spPr>
            <a:xfrm flipV="1">
              <a:off x="1566545" y="3023216"/>
              <a:ext cx="309037" cy="1235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6" idx="3"/>
              <a:endCxn id="7" idx="1"/>
            </p:cNvCxnSpPr>
            <p:nvPr/>
          </p:nvCxnSpPr>
          <p:spPr>
            <a:xfrm>
              <a:off x="3312865" y="3023216"/>
              <a:ext cx="310955" cy="0"/>
            </a:xfrm>
            <a:prstGeom prst="straightConnector1">
              <a:avLst/>
            </a:prstGeom>
            <a:ln w="28575">
              <a:solidFill>
                <a:srgbClr val="595959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7" idx="3"/>
              <a:endCxn id="15" idx="1"/>
            </p:cNvCxnSpPr>
            <p:nvPr/>
          </p:nvCxnSpPr>
          <p:spPr>
            <a:xfrm flipV="1">
              <a:off x="5068712" y="3023215"/>
              <a:ext cx="304842" cy="1"/>
            </a:xfrm>
            <a:prstGeom prst="straightConnector1">
              <a:avLst/>
            </a:prstGeom>
            <a:ln w="28575">
              <a:solidFill>
                <a:srgbClr val="595959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15" idx="3"/>
              <a:endCxn id="13" idx="2"/>
            </p:cNvCxnSpPr>
            <p:nvPr/>
          </p:nvCxnSpPr>
          <p:spPr>
            <a:xfrm flipV="1">
              <a:off x="6818446" y="3021652"/>
              <a:ext cx="309116" cy="1563"/>
            </a:xfrm>
            <a:prstGeom prst="straightConnector1">
              <a:avLst/>
            </a:prstGeom>
            <a:ln w="28575">
              <a:solidFill>
                <a:srgbClr val="595959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3" idx="6"/>
              <a:endCxn id="12" idx="1"/>
            </p:cNvCxnSpPr>
            <p:nvPr/>
          </p:nvCxnSpPr>
          <p:spPr>
            <a:xfrm>
              <a:off x="7594161" y="3021652"/>
              <a:ext cx="309116" cy="0"/>
            </a:xfrm>
            <a:prstGeom prst="straightConnector1">
              <a:avLst/>
            </a:prstGeom>
            <a:ln w="28575">
              <a:solidFill>
                <a:srgbClr val="595959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肘形连接符 20"/>
            <p:cNvCxnSpPr>
              <a:stCxn id="8" idx="3"/>
              <a:endCxn id="13" idx="0"/>
            </p:cNvCxnSpPr>
            <p:nvPr/>
          </p:nvCxnSpPr>
          <p:spPr>
            <a:xfrm>
              <a:off x="6818446" y="1949769"/>
              <a:ext cx="542416" cy="850582"/>
            </a:xfrm>
            <a:prstGeom prst="bentConnector2">
              <a:avLst/>
            </a:prstGeom>
            <a:ln w="28575">
              <a:solidFill>
                <a:srgbClr val="595959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肘形连接符 21"/>
            <p:cNvCxnSpPr>
              <a:stCxn id="7" idx="2"/>
              <a:endCxn id="13" idx="4"/>
            </p:cNvCxnSpPr>
            <p:nvPr/>
          </p:nvCxnSpPr>
          <p:spPr>
            <a:xfrm rot="16200000" flipH="1">
              <a:off x="5831949" y="1714039"/>
              <a:ext cx="43231" cy="3014596"/>
            </a:xfrm>
            <a:prstGeom prst="bentConnector3">
              <a:avLst>
                <a:gd name="adj1" fmla="val 628787"/>
              </a:avLst>
            </a:prstGeom>
            <a:ln w="28575">
              <a:solidFill>
                <a:srgbClr val="595959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endCxn id="14" idx="3"/>
            </p:cNvCxnSpPr>
            <p:nvPr/>
          </p:nvCxnSpPr>
          <p:spPr>
            <a:xfrm flipH="1">
              <a:off x="6816474" y="2479652"/>
              <a:ext cx="544387" cy="0"/>
            </a:xfrm>
            <a:prstGeom prst="line">
              <a:avLst/>
            </a:prstGeom>
            <a:ln w="2857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" name="右大括号 2"/>
            <p:cNvSpPr/>
            <p:nvPr/>
          </p:nvSpPr>
          <p:spPr>
            <a:xfrm>
              <a:off x="6827202" y="1975169"/>
              <a:ext cx="323215" cy="1019491"/>
            </a:xfrm>
            <a:prstGeom prst="rightBrace">
              <a:avLst>
                <a:gd name="adj1" fmla="val 39767"/>
                <a:gd name="adj2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928964" y="2193118"/>
              <a:ext cx="370205" cy="285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n</a:t>
              </a:r>
              <a:endParaRPr lang="en-US" altLang="zh-CN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98" name="直接箭头连接符 97"/>
            <p:cNvCxnSpPr>
              <a:stCxn id="15" idx="0"/>
              <a:endCxn id="14" idx="2"/>
            </p:cNvCxnSpPr>
            <p:nvPr/>
          </p:nvCxnSpPr>
          <p:spPr>
            <a:xfrm flipH="1" flipV="1">
              <a:off x="6095014" y="2656157"/>
              <a:ext cx="986" cy="19055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直接箭头连接符 111"/>
            <p:cNvCxnSpPr>
              <a:stCxn id="14" idx="0"/>
              <a:endCxn id="8" idx="2"/>
            </p:cNvCxnSpPr>
            <p:nvPr/>
          </p:nvCxnSpPr>
          <p:spPr>
            <a:xfrm flipV="1">
              <a:off x="6095014" y="2126274"/>
              <a:ext cx="986" cy="17687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8" name="直接箭头连接符 277"/>
            <p:cNvCxnSpPr/>
            <p:nvPr/>
          </p:nvCxnSpPr>
          <p:spPr>
            <a:xfrm flipV="1">
              <a:off x="9340560" y="3020417"/>
              <a:ext cx="309037" cy="1235"/>
            </a:xfrm>
            <a:prstGeom prst="straightConnector1">
              <a:avLst/>
            </a:prstGeom>
            <a:ln w="28575">
              <a:solidFill>
                <a:srgbClr val="595959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9" name="文本框 278"/>
            <p:cNvSpPr txBox="1"/>
            <p:nvPr/>
          </p:nvSpPr>
          <p:spPr>
            <a:xfrm>
              <a:off x="5321774" y="3500826"/>
              <a:ext cx="5725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latin typeface="华文中宋" panose="02010600040101010101" charset="-122"/>
                  <a:ea typeface="华文中宋" panose="02010600040101010101" charset="-122"/>
                </a:rPr>
                <a:t>C2f</a:t>
              </a:r>
              <a:endParaRPr lang="zh-CN" altLang="en-US" b="1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0" y="2307591"/>
            <a:ext cx="4519487" cy="1169532"/>
            <a:chOff x="0" y="2295480"/>
            <a:chExt cx="4519487" cy="1169532"/>
          </a:xfrm>
        </p:grpSpPr>
        <p:sp>
          <p:nvSpPr>
            <p:cNvPr id="35" name="矩形 34"/>
            <p:cNvSpPr/>
            <p:nvPr/>
          </p:nvSpPr>
          <p:spPr>
            <a:xfrm>
              <a:off x="0" y="2295480"/>
              <a:ext cx="4519487" cy="116953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304040" y="2466955"/>
              <a:ext cx="1431112" cy="353012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CBS, S=1, K=3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圆角矩形 37"/>
            <p:cNvSpPr/>
            <p:nvPr/>
          </p:nvSpPr>
          <p:spPr>
            <a:xfrm>
              <a:off x="2053774" y="2466954"/>
              <a:ext cx="1431112" cy="353012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CBS, S=1, K=3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40" name="直接箭头连接符 39"/>
            <p:cNvCxnSpPr>
              <a:endCxn id="37" idx="1"/>
            </p:cNvCxnSpPr>
            <p:nvPr/>
          </p:nvCxnSpPr>
          <p:spPr>
            <a:xfrm>
              <a:off x="6420" y="2643461"/>
              <a:ext cx="297620" cy="0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>
              <a:stCxn id="37" idx="3"/>
              <a:endCxn id="38" idx="1"/>
            </p:cNvCxnSpPr>
            <p:nvPr/>
          </p:nvCxnSpPr>
          <p:spPr>
            <a:xfrm flipV="1">
              <a:off x="1735152" y="2643460"/>
              <a:ext cx="318622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肘形连接符 44"/>
            <p:cNvCxnSpPr>
              <a:endCxn id="308" idx="4"/>
            </p:cNvCxnSpPr>
            <p:nvPr/>
          </p:nvCxnSpPr>
          <p:spPr>
            <a:xfrm>
              <a:off x="31115" y="2643460"/>
              <a:ext cx="3971072" cy="220679"/>
            </a:xfrm>
            <a:prstGeom prst="bentConnector4">
              <a:avLst>
                <a:gd name="adj1" fmla="val 2129"/>
                <a:gd name="adj2" fmla="val 203589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08" name="椭圆 307"/>
            <p:cNvSpPr/>
            <p:nvPr/>
          </p:nvSpPr>
          <p:spPr>
            <a:xfrm>
              <a:off x="3768887" y="2421537"/>
              <a:ext cx="466599" cy="44260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latin typeface="微软雅黑" panose="020B0503020204020204" charset="-122"/>
                  <a:ea typeface="微软雅黑" panose="020B0503020204020204" charset="-122"/>
                </a:rPr>
                <a:t>a</a:t>
              </a:r>
              <a:endParaRPr lang="en-US" altLang="zh-CN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316" name="直接箭头连接符 315"/>
            <p:cNvCxnSpPr/>
            <p:nvPr/>
          </p:nvCxnSpPr>
          <p:spPr>
            <a:xfrm flipV="1">
              <a:off x="3484886" y="2642838"/>
              <a:ext cx="284001" cy="622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7" name="直接箭头连接符 316"/>
            <p:cNvCxnSpPr>
              <a:stCxn id="308" idx="6"/>
            </p:cNvCxnSpPr>
            <p:nvPr/>
          </p:nvCxnSpPr>
          <p:spPr>
            <a:xfrm>
              <a:off x="4235486" y="2642838"/>
              <a:ext cx="284001" cy="569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19" name="文本框 318"/>
            <p:cNvSpPr txBox="1"/>
            <p:nvPr/>
          </p:nvSpPr>
          <p:spPr>
            <a:xfrm>
              <a:off x="1566284" y="3095680"/>
              <a:ext cx="13869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latin typeface="华文中宋" panose="02010600040101010101" charset="-122"/>
                  <a:ea typeface="华文中宋" panose="02010600040101010101" charset="-122"/>
                </a:rPr>
                <a:t>Bottleneck</a:t>
              </a:r>
              <a:endParaRPr lang="zh-CN" altLang="en-US" b="1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  <p:sp>
        <p:nvSpPr>
          <p:cNvPr id="328" name="文本框 327"/>
          <p:cNvSpPr txBox="1"/>
          <p:nvPr/>
        </p:nvSpPr>
        <p:spPr>
          <a:xfrm>
            <a:off x="10568728" y="0"/>
            <a:ext cx="2277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YOLOv8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21" name="组合 420"/>
          <p:cNvGrpSpPr/>
          <p:nvPr/>
        </p:nvGrpSpPr>
        <p:grpSpPr>
          <a:xfrm>
            <a:off x="5362419" y="2514884"/>
            <a:ext cx="5609503" cy="4343133"/>
            <a:chOff x="5362419" y="2514884"/>
            <a:chExt cx="5609503" cy="4343133"/>
          </a:xfrm>
        </p:grpSpPr>
        <p:sp>
          <p:nvSpPr>
            <p:cNvPr id="419" name="矩形 418"/>
            <p:cNvSpPr/>
            <p:nvPr/>
          </p:nvSpPr>
          <p:spPr>
            <a:xfrm>
              <a:off x="5362419" y="2514884"/>
              <a:ext cx="5496081" cy="434311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417" name="组合 416"/>
            <p:cNvGrpSpPr/>
            <p:nvPr/>
          </p:nvGrpSpPr>
          <p:grpSpPr>
            <a:xfrm>
              <a:off x="5406459" y="2606493"/>
              <a:ext cx="5565463" cy="4070373"/>
              <a:chOff x="6996106" y="2510779"/>
              <a:chExt cx="5565463" cy="4070373"/>
            </a:xfrm>
          </p:grpSpPr>
          <p:grpSp>
            <p:nvGrpSpPr>
              <p:cNvPr id="407" name="组合 406"/>
              <p:cNvGrpSpPr/>
              <p:nvPr/>
            </p:nvGrpSpPr>
            <p:grpSpPr>
              <a:xfrm>
                <a:off x="6996106" y="2510779"/>
                <a:ext cx="3982979" cy="4070373"/>
                <a:chOff x="7055373" y="2273277"/>
                <a:chExt cx="3982979" cy="4070373"/>
              </a:xfrm>
            </p:grpSpPr>
            <p:grpSp>
              <p:nvGrpSpPr>
                <p:cNvPr id="343" name="组合 342"/>
                <p:cNvGrpSpPr/>
                <p:nvPr/>
              </p:nvGrpSpPr>
              <p:grpSpPr>
                <a:xfrm>
                  <a:off x="7055373" y="2479065"/>
                  <a:ext cx="3982979" cy="3685502"/>
                  <a:chOff x="304040" y="4331477"/>
                  <a:chExt cx="3982979" cy="3685502"/>
                </a:xfrm>
              </p:grpSpPr>
              <p:sp>
                <p:nvSpPr>
                  <p:cNvPr id="329" name="矩形: 圆角 328"/>
                  <p:cNvSpPr/>
                  <p:nvPr/>
                </p:nvSpPr>
                <p:spPr>
                  <a:xfrm>
                    <a:off x="315208" y="4331477"/>
                    <a:ext cx="1431112" cy="353012"/>
                  </a:xfrm>
                  <a:prstGeom prst="roundRect">
                    <a:avLst/>
                  </a:prstGeom>
                </p:spPr>
                <p:style>
                  <a:lnRef idx="0">
                    <a:schemeClr val="accent5"/>
                  </a:lnRef>
                  <a:fillRef idx="3">
                    <a:schemeClr val="accent5"/>
                  </a:fillRef>
                  <a:effectRef idx="3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rPr>
                      <a:t>Residual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331" name="矩形: 圆角 330"/>
                  <p:cNvSpPr/>
                  <p:nvPr/>
                </p:nvSpPr>
                <p:spPr>
                  <a:xfrm>
                    <a:off x="1186241" y="4890277"/>
                    <a:ext cx="1431112" cy="353012"/>
                  </a:xfrm>
                  <a:prstGeom prst="roundRect">
                    <a:avLst/>
                  </a:prstGeom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rPr>
                      <a:t>X Avg Pool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332" name="矩形: 圆角 331"/>
                  <p:cNvSpPr/>
                  <p:nvPr/>
                </p:nvSpPr>
                <p:spPr>
                  <a:xfrm>
                    <a:off x="2855907" y="4885527"/>
                    <a:ext cx="1431112" cy="353012"/>
                  </a:xfrm>
                  <a:prstGeom prst="roundRect">
                    <a:avLst/>
                  </a:prstGeom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rPr>
                      <a:t>Y Avg Pool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335" name="矩形: 圆角 334"/>
                  <p:cNvSpPr/>
                  <p:nvPr/>
                </p:nvSpPr>
                <p:spPr>
                  <a:xfrm>
                    <a:off x="1186241" y="5444065"/>
                    <a:ext cx="3100778" cy="353012"/>
                  </a:xfrm>
                  <a:prstGeom prst="roundRect">
                    <a:avLst/>
                  </a:prstGeom>
                </p:spPr>
                <p:style>
                  <a:lnRef idx="0">
                    <a:schemeClr val="accent4"/>
                  </a:lnRef>
                  <a:fillRef idx="3">
                    <a:schemeClr val="accent4"/>
                  </a:fillRef>
                  <a:effectRef idx="3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rPr>
                      <a:t>Concat + Conv2d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337" name="矩形: 圆角 336"/>
                  <p:cNvSpPr/>
                  <p:nvPr/>
                </p:nvSpPr>
                <p:spPr>
                  <a:xfrm>
                    <a:off x="1186241" y="5997853"/>
                    <a:ext cx="3100778" cy="353012"/>
                  </a:xfrm>
                  <a:prstGeom prst="roundRect">
                    <a:avLst/>
                  </a:prstGeom>
                </p:spPr>
                <p:style>
                  <a:lnRef idx="0">
                    <a:schemeClr val="accent2"/>
                  </a:lnRef>
                  <a:fillRef idx="3">
                    <a:schemeClr val="accent2"/>
                  </a:fillRef>
                  <a:effectRef idx="3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rPr>
                      <a:t>BatchNorm + Non-linear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338" name="矩形: 圆角 337"/>
                  <p:cNvSpPr/>
                  <p:nvPr/>
                </p:nvSpPr>
                <p:spPr>
                  <a:xfrm>
                    <a:off x="1181299" y="6556391"/>
                    <a:ext cx="1431112" cy="353012"/>
                  </a:xfrm>
                  <a:prstGeom prst="round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rPr>
                      <a:t>Conv2d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339" name="矩形: 圆角 338"/>
                  <p:cNvSpPr/>
                  <p:nvPr/>
                </p:nvSpPr>
                <p:spPr>
                  <a:xfrm>
                    <a:off x="2851809" y="6551641"/>
                    <a:ext cx="1425455" cy="353012"/>
                  </a:xfrm>
                  <a:prstGeom prst="roundRect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rPr>
                      <a:t>Conv2d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340" name="矩形: 圆角 339"/>
                  <p:cNvSpPr/>
                  <p:nvPr/>
                </p:nvSpPr>
                <p:spPr>
                  <a:xfrm>
                    <a:off x="1182143" y="7110179"/>
                    <a:ext cx="1431112" cy="353012"/>
                  </a:xfrm>
                  <a:prstGeom prst="round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rPr>
                      <a:t>Sigmoid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341" name="矩形: 圆角 340"/>
                  <p:cNvSpPr/>
                  <p:nvPr/>
                </p:nvSpPr>
                <p:spPr>
                  <a:xfrm>
                    <a:off x="2851809" y="7105429"/>
                    <a:ext cx="1431112" cy="353012"/>
                  </a:xfrm>
                  <a:prstGeom prst="round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rPr>
                      <a:t>Sigmoid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342" name="矩形: 圆角 341"/>
                  <p:cNvSpPr/>
                  <p:nvPr/>
                </p:nvSpPr>
                <p:spPr>
                  <a:xfrm>
                    <a:off x="304040" y="7663967"/>
                    <a:ext cx="1431112" cy="353012"/>
                  </a:xfrm>
                  <a:prstGeom prst="roundRect">
                    <a:avLst/>
                  </a:prstGeom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400" b="1">
                        <a:latin typeface="微软雅黑" panose="020B0503020204020204" charset="-122"/>
                        <a:ea typeface="微软雅黑" panose="020B0503020204020204" charset="-122"/>
                      </a:rPr>
                      <a:t>Re-weight</a:t>
                    </a:r>
                    <a:endParaRPr lang="zh-CN" altLang="en-US" sz="1400" b="1"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cxnSp>
              <p:nvCxnSpPr>
                <p:cNvPr id="345" name="直接箭头连接符 344"/>
                <p:cNvCxnSpPr>
                  <a:stCxn id="329" idx="2"/>
                  <a:endCxn id="331" idx="0"/>
                </p:cNvCxnSpPr>
                <p:nvPr/>
              </p:nvCxnSpPr>
              <p:spPr>
                <a:xfrm>
                  <a:off x="7782097" y="2832077"/>
                  <a:ext cx="871033" cy="205788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3" name="直接箭头连接符 352"/>
                <p:cNvCxnSpPr>
                  <a:stCxn id="329" idx="2"/>
                  <a:endCxn id="332" idx="0"/>
                </p:cNvCxnSpPr>
                <p:nvPr/>
              </p:nvCxnSpPr>
              <p:spPr>
                <a:xfrm>
                  <a:off x="7782097" y="2832077"/>
                  <a:ext cx="2540699" cy="201038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4" name="直接箭头连接符 353"/>
                <p:cNvCxnSpPr>
                  <a:stCxn id="329" idx="2"/>
                  <a:endCxn id="342" idx="0"/>
                </p:cNvCxnSpPr>
                <p:nvPr/>
              </p:nvCxnSpPr>
              <p:spPr>
                <a:xfrm flipH="1">
                  <a:off x="7770929" y="2832077"/>
                  <a:ext cx="11168" cy="2979478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5" name="直接箭头连接符 354"/>
                <p:cNvCxnSpPr>
                  <a:stCxn id="331" idx="2"/>
                </p:cNvCxnSpPr>
                <p:nvPr/>
              </p:nvCxnSpPr>
              <p:spPr>
                <a:xfrm>
                  <a:off x="8653130" y="3390877"/>
                  <a:ext cx="0" cy="200743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6" name="直接箭头连接符 355"/>
                <p:cNvCxnSpPr>
                  <a:stCxn id="332" idx="2"/>
                </p:cNvCxnSpPr>
                <p:nvPr/>
              </p:nvCxnSpPr>
              <p:spPr>
                <a:xfrm>
                  <a:off x="10322796" y="3386127"/>
                  <a:ext cx="0" cy="205493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7" name="直接箭头连接符 356"/>
                <p:cNvCxnSpPr>
                  <a:stCxn id="335" idx="2"/>
                  <a:endCxn id="337" idx="0"/>
                </p:cNvCxnSpPr>
                <p:nvPr/>
              </p:nvCxnSpPr>
              <p:spPr>
                <a:xfrm>
                  <a:off x="9487963" y="3944665"/>
                  <a:ext cx="0" cy="200776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8" name="直接箭头连接符 357"/>
                <p:cNvCxnSpPr>
                  <a:endCxn id="338" idx="0"/>
                </p:cNvCxnSpPr>
                <p:nvPr/>
              </p:nvCxnSpPr>
              <p:spPr>
                <a:xfrm flipH="1">
                  <a:off x="8648188" y="4496078"/>
                  <a:ext cx="4942" cy="207901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直接箭头连接符 373"/>
                <p:cNvCxnSpPr>
                  <a:endCxn id="339" idx="0"/>
                </p:cNvCxnSpPr>
                <p:nvPr/>
              </p:nvCxnSpPr>
              <p:spPr>
                <a:xfrm flipH="1">
                  <a:off x="10315870" y="4496078"/>
                  <a:ext cx="2828" cy="203151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直接箭头连接符 377"/>
                <p:cNvCxnSpPr>
                  <a:stCxn id="338" idx="2"/>
                  <a:endCxn id="340" idx="0"/>
                </p:cNvCxnSpPr>
                <p:nvPr/>
              </p:nvCxnSpPr>
              <p:spPr>
                <a:xfrm>
                  <a:off x="8648188" y="5056991"/>
                  <a:ext cx="844" cy="200776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直接箭头连接符 378"/>
                <p:cNvCxnSpPr>
                  <a:stCxn id="339" idx="2"/>
                  <a:endCxn id="341" idx="0"/>
                </p:cNvCxnSpPr>
                <p:nvPr/>
              </p:nvCxnSpPr>
              <p:spPr>
                <a:xfrm>
                  <a:off x="10315870" y="5052241"/>
                  <a:ext cx="2828" cy="200776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4" name="直接箭头连接符 383"/>
                <p:cNvCxnSpPr>
                  <a:stCxn id="340" idx="2"/>
                  <a:endCxn id="342" idx="0"/>
                </p:cNvCxnSpPr>
                <p:nvPr/>
              </p:nvCxnSpPr>
              <p:spPr>
                <a:xfrm flipH="1">
                  <a:off x="7770929" y="5610779"/>
                  <a:ext cx="878103" cy="200776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5" name="直接箭头连接符 384"/>
                <p:cNvCxnSpPr>
                  <a:stCxn id="341" idx="2"/>
                  <a:endCxn id="342" idx="0"/>
                </p:cNvCxnSpPr>
                <p:nvPr/>
              </p:nvCxnSpPr>
              <p:spPr>
                <a:xfrm flipH="1">
                  <a:off x="7770929" y="5606029"/>
                  <a:ext cx="2547769" cy="205526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直接箭头连接符 393"/>
                <p:cNvCxnSpPr/>
                <p:nvPr/>
              </p:nvCxnSpPr>
              <p:spPr>
                <a:xfrm>
                  <a:off x="7757164" y="2273277"/>
                  <a:ext cx="0" cy="210538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直接箭头连接符 394"/>
                <p:cNvCxnSpPr/>
                <p:nvPr/>
              </p:nvCxnSpPr>
              <p:spPr>
                <a:xfrm>
                  <a:off x="7766831" y="6159817"/>
                  <a:ext cx="0" cy="183833"/>
                </a:xfrm>
                <a:prstGeom prst="straightConnector1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8" name="文本框 407"/>
              <p:cNvSpPr txBox="1"/>
              <p:nvPr/>
            </p:nvSpPr>
            <p:spPr>
              <a:xfrm>
                <a:off x="7025722" y="4958414"/>
                <a:ext cx="90281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>
                    <a:latin typeface="微软雅黑" panose="020B0503020204020204" charset="-122"/>
                    <a:ea typeface="微软雅黑" panose="020B0503020204020204" charset="-122"/>
                  </a:rPr>
                  <a:t>C × H × 1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09" name="文本框 408"/>
              <p:cNvSpPr txBox="1"/>
              <p:nvPr/>
            </p:nvSpPr>
            <p:spPr>
              <a:xfrm>
                <a:off x="10984358" y="3313373"/>
                <a:ext cx="94128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>
                    <a:latin typeface="微软雅黑" panose="020B0503020204020204" charset="-122"/>
                    <a:ea typeface="微软雅黑" panose="020B0503020204020204" charset="-122"/>
                  </a:rPr>
                  <a:t>C × 1 × W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10" name="文本框 409"/>
              <p:cNvSpPr txBox="1"/>
              <p:nvPr/>
            </p:nvSpPr>
            <p:spPr>
              <a:xfrm>
                <a:off x="8427218" y="2752356"/>
                <a:ext cx="9701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>
                    <a:latin typeface="微软雅黑" panose="020B0503020204020204" charset="-122"/>
                    <a:ea typeface="微软雅黑" panose="020B0503020204020204" charset="-122"/>
                  </a:rPr>
                  <a:t>C × H × W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11" name="文本框 410"/>
              <p:cNvSpPr txBox="1"/>
              <p:nvPr/>
            </p:nvSpPr>
            <p:spPr>
              <a:xfrm>
                <a:off x="10969330" y="4974633"/>
                <a:ext cx="94128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>
                    <a:latin typeface="微软雅黑" panose="020B0503020204020204" charset="-122"/>
                    <a:ea typeface="微软雅黑" panose="020B0503020204020204" charset="-122"/>
                  </a:rPr>
                  <a:t>C × 1 × W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12" name="文本框 411"/>
              <p:cNvSpPr txBox="1"/>
              <p:nvPr/>
            </p:nvSpPr>
            <p:spPr>
              <a:xfrm>
                <a:off x="10979085" y="5530796"/>
                <a:ext cx="94128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>
                    <a:latin typeface="微软雅黑" panose="020B0503020204020204" charset="-122"/>
                    <a:ea typeface="微软雅黑" panose="020B0503020204020204" charset="-122"/>
                  </a:rPr>
                  <a:t>C × 1 × W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13" name="文本框 412"/>
              <p:cNvSpPr txBox="1"/>
              <p:nvPr/>
            </p:nvSpPr>
            <p:spPr>
              <a:xfrm>
                <a:off x="7008889" y="3287550"/>
                <a:ext cx="90281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>
                    <a:latin typeface="微软雅黑" panose="020B0503020204020204" charset="-122"/>
                    <a:ea typeface="微软雅黑" panose="020B0503020204020204" charset="-122"/>
                  </a:rPr>
                  <a:t>C × H × 1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14" name="文本框 413"/>
              <p:cNvSpPr txBox="1"/>
              <p:nvPr/>
            </p:nvSpPr>
            <p:spPr>
              <a:xfrm>
                <a:off x="7025904" y="5525948"/>
                <a:ext cx="90281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>
                    <a:latin typeface="微软雅黑" panose="020B0503020204020204" charset="-122"/>
                    <a:ea typeface="微软雅黑" panose="020B0503020204020204" charset="-122"/>
                  </a:rPr>
                  <a:t>C × H × 1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15" name="文本框 414"/>
              <p:cNvSpPr txBox="1"/>
              <p:nvPr/>
            </p:nvSpPr>
            <p:spPr>
              <a:xfrm>
                <a:off x="10979085" y="3863497"/>
                <a:ext cx="15824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>
                    <a:latin typeface="微软雅黑" panose="020B0503020204020204" charset="-122"/>
                    <a:ea typeface="微软雅黑" panose="020B0503020204020204" charset="-122"/>
                  </a:rPr>
                  <a:t>Clr × 1 × </a:t>
                </a:r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（</a:t>
                </a:r>
                <a:r>
                  <a:rPr lang="en-US" altLang="zh-CN" sz="1200">
                    <a:latin typeface="微软雅黑" panose="020B0503020204020204" charset="-122"/>
                    <a:ea typeface="微软雅黑" panose="020B0503020204020204" charset="-122"/>
                  </a:rPr>
                  <a:t>W+H</a:t>
                </a:r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）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16" name="文本框 415"/>
              <p:cNvSpPr txBox="1"/>
              <p:nvPr/>
            </p:nvSpPr>
            <p:spPr>
              <a:xfrm>
                <a:off x="10969330" y="4420845"/>
                <a:ext cx="15824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>
                    <a:latin typeface="微软雅黑" panose="020B0503020204020204" charset="-122"/>
                    <a:ea typeface="微软雅黑" panose="020B0503020204020204" charset="-122"/>
                  </a:rPr>
                  <a:t>Clr × 1 × </a:t>
                </a:r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（</a:t>
                </a:r>
                <a:r>
                  <a:rPr lang="en-US" altLang="zh-CN" sz="1200">
                    <a:latin typeface="微软雅黑" panose="020B0503020204020204" charset="-122"/>
                    <a:ea typeface="微软雅黑" panose="020B0503020204020204" charset="-122"/>
                  </a:rPr>
                  <a:t>W+H</a:t>
                </a:r>
                <a:r>
                  <a:rPr lang="zh-CN" altLang="en-US" sz="1200">
                    <a:latin typeface="微软雅黑" panose="020B0503020204020204" charset="-122"/>
                    <a:ea typeface="微软雅黑" panose="020B0503020204020204" charset="-122"/>
                  </a:rPr>
                  <a:t>）</a:t>
                </a:r>
                <a:endParaRPr lang="zh-CN" altLang="en-US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420" name="文本框 419"/>
            <p:cNvSpPr txBox="1"/>
            <p:nvPr/>
          </p:nvSpPr>
          <p:spPr>
            <a:xfrm>
              <a:off x="6324874" y="6488685"/>
              <a:ext cx="35163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latin typeface="华文中宋" panose="02010600040101010101" charset="-122"/>
                  <a:ea typeface="华文中宋" panose="02010600040101010101" charset="-122"/>
                </a:rPr>
                <a:t>Coordinate Attentionm</a:t>
              </a:r>
              <a:r>
                <a:rPr lang="zh-CN" altLang="en-US" b="1">
                  <a:latin typeface="华文中宋" panose="02010600040101010101" charset="-122"/>
                  <a:ea typeface="华文中宋" panose="02010600040101010101" charset="-122"/>
                </a:rPr>
                <a:t>，</a:t>
              </a:r>
              <a:r>
                <a:rPr lang="en-US" altLang="zh-CN" b="1">
                  <a:latin typeface="华文中宋" panose="02010600040101010101" charset="-122"/>
                  <a:ea typeface="华文中宋" panose="02010600040101010101" charset="-122"/>
                </a:rPr>
                <a:t>CA</a:t>
              </a:r>
              <a:endParaRPr lang="zh-CN" altLang="en-US" b="1"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1573</Words>
  <Application>WPS 演示</Application>
  <PresentationFormat>宽屏</PresentationFormat>
  <Paragraphs>412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华文中宋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国津 马</dc:creator>
  <cp:lastModifiedBy>lme</cp:lastModifiedBy>
  <cp:revision>77</cp:revision>
  <dcterms:created xsi:type="dcterms:W3CDTF">2025-05-01T08:05:00Z</dcterms:created>
  <dcterms:modified xsi:type="dcterms:W3CDTF">2025-06-01T07:02:34Z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1C3CF4273C9E49E9B5C0480051C1AC51_12</vt:lpwstr>
  </property>
  <property fmtid="{D5CDD505-2E9C-101B-9397-08002B2CF9AE}" pid="3" name="KSOProductBuildVer">
    <vt:lpwstr>2052-12.1.0.19770</vt:lpwstr>
  </property>
</Properties>
</file>